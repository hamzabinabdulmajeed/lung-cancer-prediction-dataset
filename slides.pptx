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6" r:id="rId7"/>
    <p:sldId id="268"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7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89A5B90-8301-4E05-9FC3-B20FEDD1488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1BB1936-13C1-45CB-8202-E04D7330AC44}">
      <dgm:prSet/>
      <dgm:spPr/>
      <dgm:t>
        <a:bodyPr/>
        <a:lstStyle/>
        <a:p>
          <a:r>
            <a:rPr lang="en-US" b="1"/>
            <a:t>Overview:</a:t>
          </a:r>
          <a:r>
            <a:rPr lang="en-US"/>
            <a:t> Development of an AI-driven framework to transition from reactive treatment to proactive risk management.</a:t>
          </a:r>
        </a:p>
      </dgm:t>
    </dgm:pt>
    <dgm:pt modelId="{424D6545-1D32-47AA-A805-322E9F24FBDC}" type="parTrans" cxnId="{2B3CE057-2A7E-411F-A24A-2CDB4CF823A6}">
      <dgm:prSet/>
      <dgm:spPr/>
      <dgm:t>
        <a:bodyPr/>
        <a:lstStyle/>
        <a:p>
          <a:endParaRPr lang="en-US"/>
        </a:p>
      </dgm:t>
    </dgm:pt>
    <dgm:pt modelId="{5D02A94D-5ECD-4010-B5EB-CFA555828967}" type="sibTrans" cxnId="{2B3CE057-2A7E-411F-A24A-2CDB4CF823A6}">
      <dgm:prSet/>
      <dgm:spPr/>
      <dgm:t>
        <a:bodyPr/>
        <a:lstStyle/>
        <a:p>
          <a:endParaRPr lang="en-US"/>
        </a:p>
      </dgm:t>
    </dgm:pt>
    <dgm:pt modelId="{37D187B0-69E0-4302-AE49-3D43C386264B}">
      <dgm:prSet/>
      <dgm:spPr/>
      <dgm:t>
        <a:bodyPr/>
        <a:lstStyle/>
        <a:p>
          <a:r>
            <a:rPr lang="en-US" b="1"/>
            <a:t>Dataset Scope:</a:t>
          </a:r>
          <a:r>
            <a:rPr lang="en-US"/>
            <a:t> 5,000 patient records across 30 clinical, lifestyle, and demographic variables.</a:t>
          </a:r>
        </a:p>
      </dgm:t>
    </dgm:pt>
    <dgm:pt modelId="{5F9F108F-5A20-4097-BDC9-D983F7C1AF02}" type="parTrans" cxnId="{A0DD9D0B-82C4-49B8-B954-0575CEF1339E}">
      <dgm:prSet/>
      <dgm:spPr/>
      <dgm:t>
        <a:bodyPr/>
        <a:lstStyle/>
        <a:p>
          <a:endParaRPr lang="en-US"/>
        </a:p>
      </dgm:t>
    </dgm:pt>
    <dgm:pt modelId="{B890ADC4-1272-412E-A84B-160BD872C5E9}" type="sibTrans" cxnId="{A0DD9D0B-82C4-49B8-B954-0575CEF1339E}">
      <dgm:prSet/>
      <dgm:spPr/>
      <dgm:t>
        <a:bodyPr/>
        <a:lstStyle/>
        <a:p>
          <a:endParaRPr lang="en-US"/>
        </a:p>
      </dgm:t>
    </dgm:pt>
    <dgm:pt modelId="{9ABC5E9F-39D6-4DFB-A8A1-75DCF5D6A6DF}">
      <dgm:prSet/>
      <dgm:spPr/>
      <dgm:t>
        <a:bodyPr/>
        <a:lstStyle/>
        <a:p>
          <a:r>
            <a:rPr lang="en-US" b="1"/>
            <a:t>Significance:</a:t>
          </a:r>
          <a:r>
            <a:rPr lang="en-US"/>
            <a:t> Utilizing Machine Learning to identify high-risk individuals through non-invasive biomarkers and historical data.</a:t>
          </a:r>
        </a:p>
      </dgm:t>
    </dgm:pt>
    <dgm:pt modelId="{066FB98E-B45A-4186-B494-84AEA1D74F41}" type="parTrans" cxnId="{AD301836-F820-4CCF-BD7D-15219DBC03E5}">
      <dgm:prSet/>
      <dgm:spPr/>
      <dgm:t>
        <a:bodyPr/>
        <a:lstStyle/>
        <a:p>
          <a:endParaRPr lang="en-US"/>
        </a:p>
      </dgm:t>
    </dgm:pt>
    <dgm:pt modelId="{23CECF62-BFFF-417E-B1A8-8A97904DFD1A}" type="sibTrans" cxnId="{AD301836-F820-4CCF-BD7D-15219DBC03E5}">
      <dgm:prSet/>
      <dgm:spPr/>
      <dgm:t>
        <a:bodyPr/>
        <a:lstStyle/>
        <a:p>
          <a:endParaRPr lang="en-US"/>
        </a:p>
      </dgm:t>
    </dgm:pt>
    <dgm:pt modelId="{C7EE3BAE-8740-4A7A-A7AE-C79DA3A9D086}" type="pres">
      <dgm:prSet presAssocID="{889A5B90-8301-4E05-9FC3-B20FEDD14889}" presName="root" presStyleCnt="0">
        <dgm:presLayoutVars>
          <dgm:dir/>
          <dgm:resizeHandles val="exact"/>
        </dgm:presLayoutVars>
      </dgm:prSet>
      <dgm:spPr/>
    </dgm:pt>
    <dgm:pt modelId="{50EB18E2-F6FA-415B-A950-C6E584083C92}" type="pres">
      <dgm:prSet presAssocID="{91BB1936-13C1-45CB-8202-E04D7330AC44}" presName="compNode" presStyleCnt="0"/>
      <dgm:spPr/>
    </dgm:pt>
    <dgm:pt modelId="{8D9776A2-041E-4559-A5BA-2B924ADC7A88}" type="pres">
      <dgm:prSet presAssocID="{91BB1936-13C1-45CB-8202-E04D7330AC44}" presName="bgRect" presStyleLbl="bgShp" presStyleIdx="0" presStyleCnt="3"/>
      <dgm:spPr/>
    </dgm:pt>
    <dgm:pt modelId="{388974E3-2D9F-402C-AAFB-0692E697582D}" type="pres">
      <dgm:prSet presAssocID="{91BB1936-13C1-45CB-8202-E04D7330AC4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E8FA4F59-8013-43F7-AB22-59F86ED39CE2}" type="pres">
      <dgm:prSet presAssocID="{91BB1936-13C1-45CB-8202-E04D7330AC44}" presName="spaceRect" presStyleCnt="0"/>
      <dgm:spPr/>
    </dgm:pt>
    <dgm:pt modelId="{3543F9EA-E6F1-4656-AB07-D650DDE1E604}" type="pres">
      <dgm:prSet presAssocID="{91BB1936-13C1-45CB-8202-E04D7330AC44}" presName="parTx" presStyleLbl="revTx" presStyleIdx="0" presStyleCnt="3">
        <dgm:presLayoutVars>
          <dgm:chMax val="0"/>
          <dgm:chPref val="0"/>
        </dgm:presLayoutVars>
      </dgm:prSet>
      <dgm:spPr/>
    </dgm:pt>
    <dgm:pt modelId="{6F9DC61A-05E3-4786-91F4-E56520D20B87}" type="pres">
      <dgm:prSet presAssocID="{5D02A94D-5ECD-4010-B5EB-CFA555828967}" presName="sibTrans" presStyleCnt="0"/>
      <dgm:spPr/>
    </dgm:pt>
    <dgm:pt modelId="{1D040D7F-28C7-45E0-B1C3-74F1931610E1}" type="pres">
      <dgm:prSet presAssocID="{37D187B0-69E0-4302-AE49-3D43C386264B}" presName="compNode" presStyleCnt="0"/>
      <dgm:spPr/>
    </dgm:pt>
    <dgm:pt modelId="{7F671D89-F376-4A9F-AF21-CA5D363DB9A0}" type="pres">
      <dgm:prSet presAssocID="{37D187B0-69E0-4302-AE49-3D43C386264B}" presName="bgRect" presStyleLbl="bgShp" presStyleIdx="1" presStyleCnt="3"/>
      <dgm:spPr/>
    </dgm:pt>
    <dgm:pt modelId="{71A078D8-4BDF-4CBD-B695-A74F6BC6DF30}" type="pres">
      <dgm:prSet presAssocID="{37D187B0-69E0-4302-AE49-3D43C386264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6C99A408-AA7D-446F-873D-B645FCAA7863}" type="pres">
      <dgm:prSet presAssocID="{37D187B0-69E0-4302-AE49-3D43C386264B}" presName="spaceRect" presStyleCnt="0"/>
      <dgm:spPr/>
    </dgm:pt>
    <dgm:pt modelId="{1C2075A2-413F-44E6-88F1-E793C3BF3227}" type="pres">
      <dgm:prSet presAssocID="{37D187B0-69E0-4302-AE49-3D43C386264B}" presName="parTx" presStyleLbl="revTx" presStyleIdx="1" presStyleCnt="3">
        <dgm:presLayoutVars>
          <dgm:chMax val="0"/>
          <dgm:chPref val="0"/>
        </dgm:presLayoutVars>
      </dgm:prSet>
      <dgm:spPr/>
    </dgm:pt>
    <dgm:pt modelId="{53FC67CC-53EA-4839-B1AE-4C294F64F0D1}" type="pres">
      <dgm:prSet presAssocID="{B890ADC4-1272-412E-A84B-160BD872C5E9}" presName="sibTrans" presStyleCnt="0"/>
      <dgm:spPr/>
    </dgm:pt>
    <dgm:pt modelId="{F7D0620A-C21E-4833-98A0-8481FD8AF5DF}" type="pres">
      <dgm:prSet presAssocID="{9ABC5E9F-39D6-4DFB-A8A1-75DCF5D6A6DF}" presName="compNode" presStyleCnt="0"/>
      <dgm:spPr/>
    </dgm:pt>
    <dgm:pt modelId="{7A4D2582-46FF-408A-8A48-FBF6C4583AE2}" type="pres">
      <dgm:prSet presAssocID="{9ABC5E9F-39D6-4DFB-A8A1-75DCF5D6A6DF}" presName="bgRect" presStyleLbl="bgShp" presStyleIdx="2" presStyleCnt="3"/>
      <dgm:spPr/>
    </dgm:pt>
    <dgm:pt modelId="{25C3EA20-F470-4EFC-9507-32468A11888A}" type="pres">
      <dgm:prSet presAssocID="{9ABC5E9F-39D6-4DFB-A8A1-75DCF5D6A6D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t"/>
        </a:ext>
      </dgm:extLst>
    </dgm:pt>
    <dgm:pt modelId="{8675A18F-CB3F-47C6-9313-56F8378552B5}" type="pres">
      <dgm:prSet presAssocID="{9ABC5E9F-39D6-4DFB-A8A1-75DCF5D6A6DF}" presName="spaceRect" presStyleCnt="0"/>
      <dgm:spPr/>
    </dgm:pt>
    <dgm:pt modelId="{8651AA57-FF11-4FCD-84CB-A7428C7F6868}" type="pres">
      <dgm:prSet presAssocID="{9ABC5E9F-39D6-4DFB-A8A1-75DCF5D6A6DF}" presName="parTx" presStyleLbl="revTx" presStyleIdx="2" presStyleCnt="3">
        <dgm:presLayoutVars>
          <dgm:chMax val="0"/>
          <dgm:chPref val="0"/>
        </dgm:presLayoutVars>
      </dgm:prSet>
      <dgm:spPr/>
    </dgm:pt>
  </dgm:ptLst>
  <dgm:cxnLst>
    <dgm:cxn modelId="{A0DD9D0B-82C4-49B8-B954-0575CEF1339E}" srcId="{889A5B90-8301-4E05-9FC3-B20FEDD14889}" destId="{37D187B0-69E0-4302-AE49-3D43C386264B}" srcOrd="1" destOrd="0" parTransId="{5F9F108F-5A20-4097-BDC9-D983F7C1AF02}" sibTransId="{B890ADC4-1272-412E-A84B-160BD872C5E9}"/>
    <dgm:cxn modelId="{AD301836-F820-4CCF-BD7D-15219DBC03E5}" srcId="{889A5B90-8301-4E05-9FC3-B20FEDD14889}" destId="{9ABC5E9F-39D6-4DFB-A8A1-75DCF5D6A6DF}" srcOrd="2" destOrd="0" parTransId="{066FB98E-B45A-4186-B494-84AEA1D74F41}" sibTransId="{23CECF62-BFFF-417E-B1A8-8A97904DFD1A}"/>
    <dgm:cxn modelId="{2B3CE057-2A7E-411F-A24A-2CDB4CF823A6}" srcId="{889A5B90-8301-4E05-9FC3-B20FEDD14889}" destId="{91BB1936-13C1-45CB-8202-E04D7330AC44}" srcOrd="0" destOrd="0" parTransId="{424D6545-1D32-47AA-A805-322E9F24FBDC}" sibTransId="{5D02A94D-5ECD-4010-B5EB-CFA555828967}"/>
    <dgm:cxn modelId="{BE339DC7-2772-4D94-8AAE-ACC9E172D2D6}" type="presOf" srcId="{37D187B0-69E0-4302-AE49-3D43C386264B}" destId="{1C2075A2-413F-44E6-88F1-E793C3BF3227}" srcOrd="0" destOrd="0" presId="urn:microsoft.com/office/officeart/2018/2/layout/IconVerticalSolidList"/>
    <dgm:cxn modelId="{332FB7EF-B418-41E6-A9D7-9935D6300181}" type="presOf" srcId="{9ABC5E9F-39D6-4DFB-A8A1-75DCF5D6A6DF}" destId="{8651AA57-FF11-4FCD-84CB-A7428C7F6868}" srcOrd="0" destOrd="0" presId="urn:microsoft.com/office/officeart/2018/2/layout/IconVerticalSolidList"/>
    <dgm:cxn modelId="{DE311AF4-2393-46F9-8A1C-C52FCA8418C8}" type="presOf" srcId="{91BB1936-13C1-45CB-8202-E04D7330AC44}" destId="{3543F9EA-E6F1-4656-AB07-D650DDE1E604}" srcOrd="0" destOrd="0" presId="urn:microsoft.com/office/officeart/2018/2/layout/IconVerticalSolidList"/>
    <dgm:cxn modelId="{71025BFF-A73A-45A2-9F62-682AAE3A68FC}" type="presOf" srcId="{889A5B90-8301-4E05-9FC3-B20FEDD14889}" destId="{C7EE3BAE-8740-4A7A-A7AE-C79DA3A9D086}" srcOrd="0" destOrd="0" presId="urn:microsoft.com/office/officeart/2018/2/layout/IconVerticalSolidList"/>
    <dgm:cxn modelId="{2BC36EB1-EAC5-4699-98CA-B212807A31EE}" type="presParOf" srcId="{C7EE3BAE-8740-4A7A-A7AE-C79DA3A9D086}" destId="{50EB18E2-F6FA-415B-A950-C6E584083C92}" srcOrd="0" destOrd="0" presId="urn:microsoft.com/office/officeart/2018/2/layout/IconVerticalSolidList"/>
    <dgm:cxn modelId="{EE65E17D-E219-468C-A7F3-074F1372782D}" type="presParOf" srcId="{50EB18E2-F6FA-415B-A950-C6E584083C92}" destId="{8D9776A2-041E-4559-A5BA-2B924ADC7A88}" srcOrd="0" destOrd="0" presId="urn:microsoft.com/office/officeart/2018/2/layout/IconVerticalSolidList"/>
    <dgm:cxn modelId="{44F0188F-0B1D-463A-93CF-E7E98FCE71FA}" type="presParOf" srcId="{50EB18E2-F6FA-415B-A950-C6E584083C92}" destId="{388974E3-2D9F-402C-AAFB-0692E697582D}" srcOrd="1" destOrd="0" presId="urn:microsoft.com/office/officeart/2018/2/layout/IconVerticalSolidList"/>
    <dgm:cxn modelId="{F5CDC663-D12C-4F36-AE10-02ABC5C704ED}" type="presParOf" srcId="{50EB18E2-F6FA-415B-A950-C6E584083C92}" destId="{E8FA4F59-8013-43F7-AB22-59F86ED39CE2}" srcOrd="2" destOrd="0" presId="urn:microsoft.com/office/officeart/2018/2/layout/IconVerticalSolidList"/>
    <dgm:cxn modelId="{A1FD8C3D-ED23-48E4-B074-1D567603BD01}" type="presParOf" srcId="{50EB18E2-F6FA-415B-A950-C6E584083C92}" destId="{3543F9EA-E6F1-4656-AB07-D650DDE1E604}" srcOrd="3" destOrd="0" presId="urn:microsoft.com/office/officeart/2018/2/layout/IconVerticalSolidList"/>
    <dgm:cxn modelId="{CF53DA1E-27D6-42CC-9E6D-389F7D0CEC7B}" type="presParOf" srcId="{C7EE3BAE-8740-4A7A-A7AE-C79DA3A9D086}" destId="{6F9DC61A-05E3-4786-91F4-E56520D20B87}" srcOrd="1" destOrd="0" presId="urn:microsoft.com/office/officeart/2018/2/layout/IconVerticalSolidList"/>
    <dgm:cxn modelId="{7E25943D-9AF4-448A-B30F-3DAB9B9D9B08}" type="presParOf" srcId="{C7EE3BAE-8740-4A7A-A7AE-C79DA3A9D086}" destId="{1D040D7F-28C7-45E0-B1C3-74F1931610E1}" srcOrd="2" destOrd="0" presId="urn:microsoft.com/office/officeart/2018/2/layout/IconVerticalSolidList"/>
    <dgm:cxn modelId="{C84EA6B4-7161-4A05-A41B-3DD5503D915C}" type="presParOf" srcId="{1D040D7F-28C7-45E0-B1C3-74F1931610E1}" destId="{7F671D89-F376-4A9F-AF21-CA5D363DB9A0}" srcOrd="0" destOrd="0" presId="urn:microsoft.com/office/officeart/2018/2/layout/IconVerticalSolidList"/>
    <dgm:cxn modelId="{82E3A07E-F8A9-4980-8DF3-99B181248BE0}" type="presParOf" srcId="{1D040D7F-28C7-45E0-B1C3-74F1931610E1}" destId="{71A078D8-4BDF-4CBD-B695-A74F6BC6DF30}" srcOrd="1" destOrd="0" presId="urn:microsoft.com/office/officeart/2018/2/layout/IconVerticalSolidList"/>
    <dgm:cxn modelId="{FFBB3243-3F24-4B34-8466-7ACD5EE38E2E}" type="presParOf" srcId="{1D040D7F-28C7-45E0-B1C3-74F1931610E1}" destId="{6C99A408-AA7D-446F-873D-B645FCAA7863}" srcOrd="2" destOrd="0" presId="urn:microsoft.com/office/officeart/2018/2/layout/IconVerticalSolidList"/>
    <dgm:cxn modelId="{EE5FA8BF-F6AB-422D-81FA-9831FD35765E}" type="presParOf" srcId="{1D040D7F-28C7-45E0-B1C3-74F1931610E1}" destId="{1C2075A2-413F-44E6-88F1-E793C3BF3227}" srcOrd="3" destOrd="0" presId="urn:microsoft.com/office/officeart/2018/2/layout/IconVerticalSolidList"/>
    <dgm:cxn modelId="{E7266EC1-80E0-4CC6-93BD-DAC26EB8674E}" type="presParOf" srcId="{C7EE3BAE-8740-4A7A-A7AE-C79DA3A9D086}" destId="{53FC67CC-53EA-4839-B1AE-4C294F64F0D1}" srcOrd="3" destOrd="0" presId="urn:microsoft.com/office/officeart/2018/2/layout/IconVerticalSolidList"/>
    <dgm:cxn modelId="{52CD08F4-650C-44AE-9A18-B0863C4FA9AB}" type="presParOf" srcId="{C7EE3BAE-8740-4A7A-A7AE-C79DA3A9D086}" destId="{F7D0620A-C21E-4833-98A0-8481FD8AF5DF}" srcOrd="4" destOrd="0" presId="urn:microsoft.com/office/officeart/2018/2/layout/IconVerticalSolidList"/>
    <dgm:cxn modelId="{7386D566-072A-447C-B202-845AD0703FDD}" type="presParOf" srcId="{F7D0620A-C21E-4833-98A0-8481FD8AF5DF}" destId="{7A4D2582-46FF-408A-8A48-FBF6C4583AE2}" srcOrd="0" destOrd="0" presId="urn:microsoft.com/office/officeart/2018/2/layout/IconVerticalSolidList"/>
    <dgm:cxn modelId="{2FD154E1-B8D3-409E-9B7F-A036E4A8703F}" type="presParOf" srcId="{F7D0620A-C21E-4833-98A0-8481FD8AF5DF}" destId="{25C3EA20-F470-4EFC-9507-32468A11888A}" srcOrd="1" destOrd="0" presId="urn:microsoft.com/office/officeart/2018/2/layout/IconVerticalSolidList"/>
    <dgm:cxn modelId="{B78C78E0-5080-489A-8E95-11445534C37F}" type="presParOf" srcId="{F7D0620A-C21E-4833-98A0-8481FD8AF5DF}" destId="{8675A18F-CB3F-47C6-9313-56F8378552B5}" srcOrd="2" destOrd="0" presId="urn:microsoft.com/office/officeart/2018/2/layout/IconVerticalSolidList"/>
    <dgm:cxn modelId="{E5D0214A-D742-45E7-ADAB-340054901ADB}" type="presParOf" srcId="{F7D0620A-C21E-4833-98A0-8481FD8AF5DF}" destId="{8651AA57-FF11-4FCD-84CB-A7428C7F686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719C531-36AF-4629-B84F-645EDB10CB16}"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C7679069-2DFA-48CF-B512-2CEF5722EB13}">
      <dgm:prSet/>
      <dgm:spPr/>
      <dgm:t>
        <a:bodyPr/>
        <a:lstStyle/>
        <a:p>
          <a:r>
            <a:rPr lang="en-US" b="1"/>
            <a:t>Dataset Structure:</a:t>
          </a:r>
          <a:r>
            <a:rPr lang="en-US"/>
            <a:t> 5,000 records partitioned into Training (80% / 4,000 samples) and Testing (20% / 1,000 samples).</a:t>
          </a:r>
        </a:p>
      </dgm:t>
    </dgm:pt>
    <dgm:pt modelId="{A208A8E3-7C43-4CCE-8EE8-144B734AD1E6}" type="parTrans" cxnId="{97BB047C-E93A-473B-AABC-2F8F02DAB632}">
      <dgm:prSet/>
      <dgm:spPr/>
      <dgm:t>
        <a:bodyPr/>
        <a:lstStyle/>
        <a:p>
          <a:endParaRPr lang="en-US"/>
        </a:p>
      </dgm:t>
    </dgm:pt>
    <dgm:pt modelId="{AF06A7B3-D096-4F65-9292-2C9DF973C8C2}" type="sibTrans" cxnId="{97BB047C-E93A-473B-AABC-2F8F02DAB632}">
      <dgm:prSet/>
      <dgm:spPr/>
      <dgm:t>
        <a:bodyPr/>
        <a:lstStyle/>
        <a:p>
          <a:endParaRPr lang="en-US"/>
        </a:p>
      </dgm:t>
    </dgm:pt>
    <dgm:pt modelId="{BE674C92-0A6F-4CFE-B87E-C79E7E581ECF}">
      <dgm:prSet/>
      <dgm:spPr/>
      <dgm:t>
        <a:bodyPr/>
        <a:lstStyle/>
        <a:p>
          <a:r>
            <a:rPr lang="en-US" b="1"/>
            <a:t>Feature Engineering:</a:t>
          </a:r>
          <a:r>
            <a:rPr lang="en-US"/>
            <a:t> Integration of environmental (Air Pollution), lifestyle (Pack Years), and clinical (CRP levels, FEV1) features.</a:t>
          </a:r>
        </a:p>
      </dgm:t>
    </dgm:pt>
    <dgm:pt modelId="{2C775DA3-AF7C-4803-B506-1DAF9BEE7017}" type="parTrans" cxnId="{315E6525-A70F-489B-9AC8-0D5EE20B7AC9}">
      <dgm:prSet/>
      <dgm:spPr/>
      <dgm:t>
        <a:bodyPr/>
        <a:lstStyle/>
        <a:p>
          <a:endParaRPr lang="en-US"/>
        </a:p>
      </dgm:t>
    </dgm:pt>
    <dgm:pt modelId="{1FCA74E1-2738-4727-B3E9-31A2F6B5FAF2}" type="sibTrans" cxnId="{315E6525-A70F-489B-9AC8-0D5EE20B7AC9}">
      <dgm:prSet/>
      <dgm:spPr/>
      <dgm:t>
        <a:bodyPr/>
        <a:lstStyle/>
        <a:p>
          <a:endParaRPr lang="en-US"/>
        </a:p>
      </dgm:t>
    </dgm:pt>
    <dgm:pt modelId="{46D82CED-5C33-40F2-BFC5-737B0C8DE8A5}">
      <dgm:prSet/>
      <dgm:spPr/>
      <dgm:t>
        <a:bodyPr/>
        <a:lstStyle/>
        <a:p>
          <a:r>
            <a:rPr lang="en-US" b="1"/>
            <a:t>Statistical Foundation:</a:t>
          </a:r>
          <a:r>
            <a:rPr lang="en-US"/>
            <a:t> Use of Cramér’s V to quantify categorical associations before modeling.</a:t>
          </a:r>
        </a:p>
      </dgm:t>
    </dgm:pt>
    <dgm:pt modelId="{EF05E329-AED5-4A01-8058-26B485332A63}" type="parTrans" cxnId="{267E8468-A2F9-46B2-9DCF-A4EBCB8671C2}">
      <dgm:prSet/>
      <dgm:spPr/>
      <dgm:t>
        <a:bodyPr/>
        <a:lstStyle/>
        <a:p>
          <a:endParaRPr lang="en-US"/>
        </a:p>
      </dgm:t>
    </dgm:pt>
    <dgm:pt modelId="{1C2148BB-A4FC-4606-8B71-5E742E0D674B}" type="sibTrans" cxnId="{267E8468-A2F9-46B2-9DCF-A4EBCB8671C2}">
      <dgm:prSet/>
      <dgm:spPr/>
      <dgm:t>
        <a:bodyPr/>
        <a:lstStyle/>
        <a:p>
          <a:endParaRPr lang="en-US"/>
        </a:p>
      </dgm:t>
    </dgm:pt>
    <dgm:pt modelId="{90F88549-22F6-4B58-8B34-FB28A2446866}" type="pres">
      <dgm:prSet presAssocID="{4719C531-36AF-4629-B84F-645EDB10CB16}" presName="linear" presStyleCnt="0">
        <dgm:presLayoutVars>
          <dgm:animLvl val="lvl"/>
          <dgm:resizeHandles val="exact"/>
        </dgm:presLayoutVars>
      </dgm:prSet>
      <dgm:spPr/>
    </dgm:pt>
    <dgm:pt modelId="{D41EB49E-98E2-45E0-8C41-8CC27C34B79F}" type="pres">
      <dgm:prSet presAssocID="{C7679069-2DFA-48CF-B512-2CEF5722EB13}" presName="parentText" presStyleLbl="node1" presStyleIdx="0" presStyleCnt="3">
        <dgm:presLayoutVars>
          <dgm:chMax val="0"/>
          <dgm:bulletEnabled val="1"/>
        </dgm:presLayoutVars>
      </dgm:prSet>
      <dgm:spPr/>
    </dgm:pt>
    <dgm:pt modelId="{99DEE8EF-D924-43ED-92A9-0D6055E78490}" type="pres">
      <dgm:prSet presAssocID="{AF06A7B3-D096-4F65-9292-2C9DF973C8C2}" presName="spacer" presStyleCnt="0"/>
      <dgm:spPr/>
    </dgm:pt>
    <dgm:pt modelId="{8153A72A-6942-4BAC-9663-C1E33CF02B74}" type="pres">
      <dgm:prSet presAssocID="{BE674C92-0A6F-4CFE-B87E-C79E7E581ECF}" presName="parentText" presStyleLbl="node1" presStyleIdx="1" presStyleCnt="3">
        <dgm:presLayoutVars>
          <dgm:chMax val="0"/>
          <dgm:bulletEnabled val="1"/>
        </dgm:presLayoutVars>
      </dgm:prSet>
      <dgm:spPr/>
    </dgm:pt>
    <dgm:pt modelId="{2A5D8E14-995E-4915-BD5E-D673DFF86468}" type="pres">
      <dgm:prSet presAssocID="{1FCA74E1-2738-4727-B3E9-31A2F6B5FAF2}" presName="spacer" presStyleCnt="0"/>
      <dgm:spPr/>
    </dgm:pt>
    <dgm:pt modelId="{9711D91F-4780-4390-87D6-307E78E24D9D}" type="pres">
      <dgm:prSet presAssocID="{46D82CED-5C33-40F2-BFC5-737B0C8DE8A5}" presName="parentText" presStyleLbl="node1" presStyleIdx="2" presStyleCnt="3">
        <dgm:presLayoutVars>
          <dgm:chMax val="0"/>
          <dgm:bulletEnabled val="1"/>
        </dgm:presLayoutVars>
      </dgm:prSet>
      <dgm:spPr/>
    </dgm:pt>
  </dgm:ptLst>
  <dgm:cxnLst>
    <dgm:cxn modelId="{315E6525-A70F-489B-9AC8-0D5EE20B7AC9}" srcId="{4719C531-36AF-4629-B84F-645EDB10CB16}" destId="{BE674C92-0A6F-4CFE-B87E-C79E7E581ECF}" srcOrd="1" destOrd="0" parTransId="{2C775DA3-AF7C-4803-B506-1DAF9BEE7017}" sibTransId="{1FCA74E1-2738-4727-B3E9-31A2F6B5FAF2}"/>
    <dgm:cxn modelId="{F907D762-7290-460D-AD9A-FCD5D3D6AE55}" type="presOf" srcId="{BE674C92-0A6F-4CFE-B87E-C79E7E581ECF}" destId="{8153A72A-6942-4BAC-9663-C1E33CF02B74}" srcOrd="0" destOrd="0" presId="urn:microsoft.com/office/officeart/2005/8/layout/vList2"/>
    <dgm:cxn modelId="{267E8468-A2F9-46B2-9DCF-A4EBCB8671C2}" srcId="{4719C531-36AF-4629-B84F-645EDB10CB16}" destId="{46D82CED-5C33-40F2-BFC5-737B0C8DE8A5}" srcOrd="2" destOrd="0" parTransId="{EF05E329-AED5-4A01-8058-26B485332A63}" sibTransId="{1C2148BB-A4FC-4606-8B71-5E742E0D674B}"/>
    <dgm:cxn modelId="{97BB047C-E93A-473B-AABC-2F8F02DAB632}" srcId="{4719C531-36AF-4629-B84F-645EDB10CB16}" destId="{C7679069-2DFA-48CF-B512-2CEF5722EB13}" srcOrd="0" destOrd="0" parTransId="{A208A8E3-7C43-4CCE-8EE8-144B734AD1E6}" sibTransId="{AF06A7B3-D096-4F65-9292-2C9DF973C8C2}"/>
    <dgm:cxn modelId="{2AE667A3-B05F-46A9-BD14-27E5950D72E8}" type="presOf" srcId="{C7679069-2DFA-48CF-B512-2CEF5722EB13}" destId="{D41EB49E-98E2-45E0-8C41-8CC27C34B79F}" srcOrd="0" destOrd="0" presId="urn:microsoft.com/office/officeart/2005/8/layout/vList2"/>
    <dgm:cxn modelId="{0C81B2CE-39D5-4893-A8E9-7ED89715BCB1}" type="presOf" srcId="{46D82CED-5C33-40F2-BFC5-737B0C8DE8A5}" destId="{9711D91F-4780-4390-87D6-307E78E24D9D}" srcOrd="0" destOrd="0" presId="urn:microsoft.com/office/officeart/2005/8/layout/vList2"/>
    <dgm:cxn modelId="{51A668EE-BC75-4255-827B-882CC4B5E95C}" type="presOf" srcId="{4719C531-36AF-4629-B84F-645EDB10CB16}" destId="{90F88549-22F6-4B58-8B34-FB28A2446866}" srcOrd="0" destOrd="0" presId="urn:microsoft.com/office/officeart/2005/8/layout/vList2"/>
    <dgm:cxn modelId="{240185F1-2C71-4E8F-A35A-D0C588C16379}" type="presParOf" srcId="{90F88549-22F6-4B58-8B34-FB28A2446866}" destId="{D41EB49E-98E2-45E0-8C41-8CC27C34B79F}" srcOrd="0" destOrd="0" presId="urn:microsoft.com/office/officeart/2005/8/layout/vList2"/>
    <dgm:cxn modelId="{54480724-0DDC-4D32-8EBF-85930722044C}" type="presParOf" srcId="{90F88549-22F6-4B58-8B34-FB28A2446866}" destId="{99DEE8EF-D924-43ED-92A9-0D6055E78490}" srcOrd="1" destOrd="0" presId="urn:microsoft.com/office/officeart/2005/8/layout/vList2"/>
    <dgm:cxn modelId="{6AC4D32C-051C-49BA-A2B4-1A2CE54B0D00}" type="presParOf" srcId="{90F88549-22F6-4B58-8B34-FB28A2446866}" destId="{8153A72A-6942-4BAC-9663-C1E33CF02B74}" srcOrd="2" destOrd="0" presId="urn:microsoft.com/office/officeart/2005/8/layout/vList2"/>
    <dgm:cxn modelId="{BB9FFA40-C7DA-458E-BC65-398B858F8A96}" type="presParOf" srcId="{90F88549-22F6-4B58-8B34-FB28A2446866}" destId="{2A5D8E14-995E-4915-BD5E-D673DFF86468}" srcOrd="3" destOrd="0" presId="urn:microsoft.com/office/officeart/2005/8/layout/vList2"/>
    <dgm:cxn modelId="{7E4F1BC7-788F-4818-8A3E-EF673A9BF81A}" type="presParOf" srcId="{90F88549-22F6-4B58-8B34-FB28A2446866}" destId="{9711D91F-4780-4390-87D6-307E78E24D9D}"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D3CE47-6D4F-479A-AA7E-A48A952F986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F6D8741-0200-4826-A182-8077D78E376B}">
      <dgm:prSet/>
      <dgm:spPr/>
      <dgm:t>
        <a:bodyPr/>
        <a:lstStyle/>
        <a:p>
          <a:r>
            <a:rPr lang="en-US"/>
            <a:t>Age Demographic: Mean age of 54.57 years, indicating a mature risk-prone demographic.</a:t>
          </a:r>
        </a:p>
      </dgm:t>
    </dgm:pt>
    <dgm:pt modelId="{4031CA11-9BB8-4A36-80D2-0DA9A29F2A2F}" type="parTrans" cxnId="{19FD0A80-5DAA-4338-87E0-E1364C0ABB75}">
      <dgm:prSet/>
      <dgm:spPr/>
      <dgm:t>
        <a:bodyPr/>
        <a:lstStyle/>
        <a:p>
          <a:endParaRPr lang="en-US"/>
        </a:p>
      </dgm:t>
    </dgm:pt>
    <dgm:pt modelId="{C7F7A05A-AB46-429E-8C31-09188ADDBFF8}" type="sibTrans" cxnId="{19FD0A80-5DAA-4338-87E0-E1364C0ABB75}">
      <dgm:prSet/>
      <dgm:spPr/>
      <dgm:t>
        <a:bodyPr/>
        <a:lstStyle/>
        <a:p>
          <a:endParaRPr lang="en-US"/>
        </a:p>
      </dgm:t>
    </dgm:pt>
    <dgm:pt modelId="{EE217B4A-EE72-41FC-9865-25FB94BD867E}">
      <dgm:prSet/>
      <dgm:spPr/>
      <dgm:t>
        <a:bodyPr/>
        <a:lstStyle/>
        <a:p>
          <a:r>
            <a:rPr lang="en-US"/>
            <a:t>Smoking Intensity: High variability in exposure, with a maximum of 60 pack-years observed.</a:t>
          </a:r>
        </a:p>
      </dgm:t>
    </dgm:pt>
    <dgm:pt modelId="{4A814522-1320-426D-9D1E-336C8A28A438}" type="parTrans" cxnId="{F8423DFB-47AD-4DB2-8426-0BA265798CE8}">
      <dgm:prSet/>
      <dgm:spPr/>
      <dgm:t>
        <a:bodyPr/>
        <a:lstStyle/>
        <a:p>
          <a:endParaRPr lang="en-US"/>
        </a:p>
      </dgm:t>
    </dgm:pt>
    <dgm:pt modelId="{52B2567A-A478-44DB-8972-194551A4D8AC}" type="sibTrans" cxnId="{F8423DFB-47AD-4DB2-8426-0BA265798CE8}">
      <dgm:prSet/>
      <dgm:spPr/>
      <dgm:t>
        <a:bodyPr/>
        <a:lstStyle/>
        <a:p>
          <a:endParaRPr lang="en-US"/>
        </a:p>
      </dgm:t>
    </dgm:pt>
    <dgm:pt modelId="{29C4F0FF-BC84-496A-AA73-466462853999}">
      <dgm:prSet/>
      <dgm:spPr/>
      <dgm:t>
        <a:bodyPr/>
        <a:lstStyle/>
        <a:p>
          <a:r>
            <a:rPr lang="en-US"/>
            <a:t>Clinical Baseline: Average Oxygen Saturation at 96.09% and Mean CRP (Inflammation marker) at 4.59.</a:t>
          </a:r>
        </a:p>
      </dgm:t>
    </dgm:pt>
    <dgm:pt modelId="{A2D84196-530F-428D-9548-7A3FB02BCFC3}" type="parTrans" cxnId="{9FE1AE01-5709-4AA2-A4DC-59DB88B26019}">
      <dgm:prSet/>
      <dgm:spPr/>
      <dgm:t>
        <a:bodyPr/>
        <a:lstStyle/>
        <a:p>
          <a:endParaRPr lang="en-US"/>
        </a:p>
      </dgm:t>
    </dgm:pt>
    <dgm:pt modelId="{27CFA304-2FF4-43D4-9803-82A106031F07}" type="sibTrans" cxnId="{9FE1AE01-5709-4AA2-A4DC-59DB88B26019}">
      <dgm:prSet/>
      <dgm:spPr/>
      <dgm:t>
        <a:bodyPr/>
        <a:lstStyle/>
        <a:p>
          <a:endParaRPr lang="en-US"/>
        </a:p>
      </dgm:t>
    </dgm:pt>
    <dgm:pt modelId="{21CAFF87-C9F7-474D-AF21-C49482B92928}" type="pres">
      <dgm:prSet presAssocID="{6FD3CE47-6D4F-479A-AA7E-A48A952F9861}" presName="linear" presStyleCnt="0">
        <dgm:presLayoutVars>
          <dgm:animLvl val="lvl"/>
          <dgm:resizeHandles val="exact"/>
        </dgm:presLayoutVars>
      </dgm:prSet>
      <dgm:spPr/>
    </dgm:pt>
    <dgm:pt modelId="{8B6B266C-7D7C-4D81-B044-D6CCA2F9500B}" type="pres">
      <dgm:prSet presAssocID="{AF6D8741-0200-4826-A182-8077D78E376B}" presName="parentText" presStyleLbl="node1" presStyleIdx="0" presStyleCnt="3">
        <dgm:presLayoutVars>
          <dgm:chMax val="0"/>
          <dgm:bulletEnabled val="1"/>
        </dgm:presLayoutVars>
      </dgm:prSet>
      <dgm:spPr/>
    </dgm:pt>
    <dgm:pt modelId="{C1152508-29A8-4A5E-A913-24920A43D789}" type="pres">
      <dgm:prSet presAssocID="{C7F7A05A-AB46-429E-8C31-09188ADDBFF8}" presName="spacer" presStyleCnt="0"/>
      <dgm:spPr/>
    </dgm:pt>
    <dgm:pt modelId="{6F832928-A5DB-4821-9BDA-6B6B8738A09B}" type="pres">
      <dgm:prSet presAssocID="{EE217B4A-EE72-41FC-9865-25FB94BD867E}" presName="parentText" presStyleLbl="node1" presStyleIdx="1" presStyleCnt="3">
        <dgm:presLayoutVars>
          <dgm:chMax val="0"/>
          <dgm:bulletEnabled val="1"/>
        </dgm:presLayoutVars>
      </dgm:prSet>
      <dgm:spPr/>
    </dgm:pt>
    <dgm:pt modelId="{0538D3E0-8632-47EC-B50C-B10F8D049BCB}" type="pres">
      <dgm:prSet presAssocID="{52B2567A-A478-44DB-8972-194551A4D8AC}" presName="spacer" presStyleCnt="0"/>
      <dgm:spPr/>
    </dgm:pt>
    <dgm:pt modelId="{60FECCAA-68F6-4D11-B83B-5C518320BDB0}" type="pres">
      <dgm:prSet presAssocID="{29C4F0FF-BC84-496A-AA73-466462853999}" presName="parentText" presStyleLbl="node1" presStyleIdx="2" presStyleCnt="3">
        <dgm:presLayoutVars>
          <dgm:chMax val="0"/>
          <dgm:bulletEnabled val="1"/>
        </dgm:presLayoutVars>
      </dgm:prSet>
      <dgm:spPr/>
    </dgm:pt>
  </dgm:ptLst>
  <dgm:cxnLst>
    <dgm:cxn modelId="{9FE1AE01-5709-4AA2-A4DC-59DB88B26019}" srcId="{6FD3CE47-6D4F-479A-AA7E-A48A952F9861}" destId="{29C4F0FF-BC84-496A-AA73-466462853999}" srcOrd="2" destOrd="0" parTransId="{A2D84196-530F-428D-9548-7A3FB02BCFC3}" sibTransId="{27CFA304-2FF4-43D4-9803-82A106031F07}"/>
    <dgm:cxn modelId="{87DCEB05-7730-46F6-8450-E74C589C60AA}" type="presOf" srcId="{EE217B4A-EE72-41FC-9865-25FB94BD867E}" destId="{6F832928-A5DB-4821-9BDA-6B6B8738A09B}" srcOrd="0" destOrd="0" presId="urn:microsoft.com/office/officeart/2005/8/layout/vList2"/>
    <dgm:cxn modelId="{C7DDE00D-081D-4F89-B136-724E1F094127}" type="presOf" srcId="{AF6D8741-0200-4826-A182-8077D78E376B}" destId="{8B6B266C-7D7C-4D81-B044-D6CCA2F9500B}" srcOrd="0" destOrd="0" presId="urn:microsoft.com/office/officeart/2005/8/layout/vList2"/>
    <dgm:cxn modelId="{DE236C36-380D-4D48-BB78-0447B4547433}" type="presOf" srcId="{6FD3CE47-6D4F-479A-AA7E-A48A952F9861}" destId="{21CAFF87-C9F7-474D-AF21-C49482B92928}" srcOrd="0" destOrd="0" presId="urn:microsoft.com/office/officeart/2005/8/layout/vList2"/>
    <dgm:cxn modelId="{8A8D956C-8FA6-43A2-8993-F79503B32135}" type="presOf" srcId="{29C4F0FF-BC84-496A-AA73-466462853999}" destId="{60FECCAA-68F6-4D11-B83B-5C518320BDB0}" srcOrd="0" destOrd="0" presId="urn:microsoft.com/office/officeart/2005/8/layout/vList2"/>
    <dgm:cxn modelId="{19FD0A80-5DAA-4338-87E0-E1364C0ABB75}" srcId="{6FD3CE47-6D4F-479A-AA7E-A48A952F9861}" destId="{AF6D8741-0200-4826-A182-8077D78E376B}" srcOrd="0" destOrd="0" parTransId="{4031CA11-9BB8-4A36-80D2-0DA9A29F2A2F}" sibTransId="{C7F7A05A-AB46-429E-8C31-09188ADDBFF8}"/>
    <dgm:cxn modelId="{F8423DFB-47AD-4DB2-8426-0BA265798CE8}" srcId="{6FD3CE47-6D4F-479A-AA7E-A48A952F9861}" destId="{EE217B4A-EE72-41FC-9865-25FB94BD867E}" srcOrd="1" destOrd="0" parTransId="{4A814522-1320-426D-9D1E-336C8A28A438}" sibTransId="{52B2567A-A478-44DB-8972-194551A4D8AC}"/>
    <dgm:cxn modelId="{3E688FEE-7FFC-430A-808D-E97396E119B8}" type="presParOf" srcId="{21CAFF87-C9F7-474D-AF21-C49482B92928}" destId="{8B6B266C-7D7C-4D81-B044-D6CCA2F9500B}" srcOrd="0" destOrd="0" presId="urn:microsoft.com/office/officeart/2005/8/layout/vList2"/>
    <dgm:cxn modelId="{6AC2036E-9E17-498D-8FDC-BF989BD3BA23}" type="presParOf" srcId="{21CAFF87-C9F7-474D-AF21-C49482B92928}" destId="{C1152508-29A8-4A5E-A913-24920A43D789}" srcOrd="1" destOrd="0" presId="urn:microsoft.com/office/officeart/2005/8/layout/vList2"/>
    <dgm:cxn modelId="{6371A885-19C7-475F-8E01-F8267C31A14C}" type="presParOf" srcId="{21CAFF87-C9F7-474D-AF21-C49482B92928}" destId="{6F832928-A5DB-4821-9BDA-6B6B8738A09B}" srcOrd="2" destOrd="0" presId="urn:microsoft.com/office/officeart/2005/8/layout/vList2"/>
    <dgm:cxn modelId="{3A7CBC82-6C25-4E64-B6FD-5EA10A3CE0A9}" type="presParOf" srcId="{21CAFF87-C9F7-474D-AF21-C49482B92928}" destId="{0538D3E0-8632-47EC-B50C-B10F8D049BCB}" srcOrd="3" destOrd="0" presId="urn:microsoft.com/office/officeart/2005/8/layout/vList2"/>
    <dgm:cxn modelId="{3E111FD0-E484-4F5B-A6AF-5179F9848A2E}" type="presParOf" srcId="{21CAFF87-C9F7-474D-AF21-C49482B92928}" destId="{60FECCAA-68F6-4D11-B83B-5C518320BDB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6D56A2A-ACBF-4669-B6AF-B3D238C3F778}"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48B09E8A-6F23-4EAA-9740-7FE7BEE5CB0D}">
      <dgm:prSet/>
      <dgm:spPr/>
      <dgm:t>
        <a:bodyPr/>
        <a:lstStyle/>
        <a:p>
          <a:r>
            <a:rPr lang="en-US" dirty="0"/>
            <a:t>The Strategy: Before granular tuning, a broad search was conducted using </a:t>
          </a:r>
          <a:r>
            <a:rPr lang="en-US" dirty="0" err="1"/>
            <a:t>RandomizedSearchCV</a:t>
          </a:r>
          <a:r>
            <a:rPr lang="en-US" dirty="0"/>
            <a:t> to explore the global parameter space of the </a:t>
          </a:r>
          <a:r>
            <a:rPr lang="en-US" dirty="0" err="1"/>
            <a:t>CatBoost</a:t>
          </a:r>
          <a:r>
            <a:rPr lang="en-US" dirty="0"/>
            <a:t> model.</a:t>
          </a:r>
        </a:p>
      </dgm:t>
    </dgm:pt>
    <dgm:pt modelId="{74D3C31C-3ADD-45B1-8679-C55AE0CC2D49}" type="parTrans" cxnId="{3E2BA8C1-0429-4527-A5C9-10D5E81E016A}">
      <dgm:prSet/>
      <dgm:spPr/>
      <dgm:t>
        <a:bodyPr/>
        <a:lstStyle/>
        <a:p>
          <a:endParaRPr lang="en-US"/>
        </a:p>
      </dgm:t>
    </dgm:pt>
    <dgm:pt modelId="{EC8EFFCA-B656-4B89-AAC2-EFF43A1C2E5B}" type="sibTrans" cxnId="{3E2BA8C1-0429-4527-A5C9-10D5E81E016A}">
      <dgm:prSet/>
      <dgm:spPr/>
      <dgm:t>
        <a:bodyPr/>
        <a:lstStyle/>
        <a:p>
          <a:endParaRPr lang="en-US"/>
        </a:p>
      </dgm:t>
    </dgm:pt>
    <dgm:pt modelId="{17817E6B-C498-453A-98D3-7AAC0648D8C7}">
      <dgm:prSet/>
      <dgm:spPr/>
      <dgm:t>
        <a:bodyPr/>
        <a:lstStyle/>
        <a:p>
          <a:r>
            <a:rPr lang="en-US"/>
            <a:t>Execution: 10 unique candidates were tested across 3-fold cross-validation (30 total fits) to narrow down the most effective ranges for learning rates and tree depth.</a:t>
          </a:r>
        </a:p>
      </dgm:t>
    </dgm:pt>
    <dgm:pt modelId="{EE1C8783-773A-426B-B861-15BCFC536B9B}" type="parTrans" cxnId="{2D87CF78-A65F-48FC-9327-2CE2EC00A6EF}">
      <dgm:prSet/>
      <dgm:spPr/>
      <dgm:t>
        <a:bodyPr/>
        <a:lstStyle/>
        <a:p>
          <a:endParaRPr lang="en-US"/>
        </a:p>
      </dgm:t>
    </dgm:pt>
    <dgm:pt modelId="{700E699E-2AA7-4156-8A0E-780810D68F16}" type="sibTrans" cxnId="{2D87CF78-A65F-48FC-9327-2CE2EC00A6EF}">
      <dgm:prSet/>
      <dgm:spPr/>
      <dgm:t>
        <a:bodyPr/>
        <a:lstStyle/>
        <a:p>
          <a:endParaRPr lang="en-US"/>
        </a:p>
      </dgm:t>
    </dgm:pt>
    <dgm:pt modelId="{D7AE5351-6549-4A74-9559-2EAC5BA18A6A}">
      <dgm:prSet/>
      <dgm:spPr/>
      <dgm:t>
        <a:bodyPr/>
        <a:lstStyle/>
        <a:p>
          <a:r>
            <a:rPr lang="en-US"/>
            <a:t>The Breakthrough: This phase reduced the Mean Squared Error (MSE) to 0.0213, providing a solid foundation for the final Bayesian optimization.</a:t>
          </a:r>
        </a:p>
      </dgm:t>
    </dgm:pt>
    <dgm:pt modelId="{9187F6BF-9585-4C60-AFC9-A941B3428E52}" type="parTrans" cxnId="{E579B2EE-E4B5-48A8-8B97-B78AE65CDDE6}">
      <dgm:prSet/>
      <dgm:spPr/>
      <dgm:t>
        <a:bodyPr/>
        <a:lstStyle/>
        <a:p>
          <a:endParaRPr lang="en-US"/>
        </a:p>
      </dgm:t>
    </dgm:pt>
    <dgm:pt modelId="{7951B0FF-6960-45B1-8535-053078621388}" type="sibTrans" cxnId="{E579B2EE-E4B5-48A8-8B97-B78AE65CDDE6}">
      <dgm:prSet/>
      <dgm:spPr/>
      <dgm:t>
        <a:bodyPr/>
        <a:lstStyle/>
        <a:p>
          <a:endParaRPr lang="en-US"/>
        </a:p>
      </dgm:t>
    </dgm:pt>
    <dgm:pt modelId="{A5D01F55-E65E-42E9-A1A7-AB5C9AEDB284}" type="pres">
      <dgm:prSet presAssocID="{86D56A2A-ACBF-4669-B6AF-B3D238C3F778}" presName="outerComposite" presStyleCnt="0">
        <dgm:presLayoutVars>
          <dgm:chMax val="5"/>
          <dgm:dir/>
          <dgm:resizeHandles val="exact"/>
        </dgm:presLayoutVars>
      </dgm:prSet>
      <dgm:spPr/>
    </dgm:pt>
    <dgm:pt modelId="{8714BDA1-470F-47DA-B03D-02E5CA0235EF}" type="pres">
      <dgm:prSet presAssocID="{86D56A2A-ACBF-4669-B6AF-B3D238C3F778}" presName="dummyMaxCanvas" presStyleCnt="0">
        <dgm:presLayoutVars/>
      </dgm:prSet>
      <dgm:spPr/>
    </dgm:pt>
    <dgm:pt modelId="{2050F9C5-0C43-40BB-BAC5-D9DAE7A70A0D}" type="pres">
      <dgm:prSet presAssocID="{86D56A2A-ACBF-4669-B6AF-B3D238C3F778}" presName="ThreeNodes_1" presStyleLbl="node1" presStyleIdx="0" presStyleCnt="3">
        <dgm:presLayoutVars>
          <dgm:bulletEnabled val="1"/>
        </dgm:presLayoutVars>
      </dgm:prSet>
      <dgm:spPr/>
    </dgm:pt>
    <dgm:pt modelId="{0320B8D4-19AF-4AE1-B4E2-75B4925779B8}" type="pres">
      <dgm:prSet presAssocID="{86D56A2A-ACBF-4669-B6AF-B3D238C3F778}" presName="ThreeNodes_2" presStyleLbl="node1" presStyleIdx="1" presStyleCnt="3">
        <dgm:presLayoutVars>
          <dgm:bulletEnabled val="1"/>
        </dgm:presLayoutVars>
      </dgm:prSet>
      <dgm:spPr/>
    </dgm:pt>
    <dgm:pt modelId="{A7732DDB-80E0-4972-9E2D-9C023C34CC77}" type="pres">
      <dgm:prSet presAssocID="{86D56A2A-ACBF-4669-B6AF-B3D238C3F778}" presName="ThreeNodes_3" presStyleLbl="node1" presStyleIdx="2" presStyleCnt="3">
        <dgm:presLayoutVars>
          <dgm:bulletEnabled val="1"/>
        </dgm:presLayoutVars>
      </dgm:prSet>
      <dgm:spPr/>
    </dgm:pt>
    <dgm:pt modelId="{5158718E-F842-4C30-B8E9-BB5E33DE5CBB}" type="pres">
      <dgm:prSet presAssocID="{86D56A2A-ACBF-4669-B6AF-B3D238C3F778}" presName="ThreeConn_1-2" presStyleLbl="fgAccFollowNode1" presStyleIdx="0" presStyleCnt="2">
        <dgm:presLayoutVars>
          <dgm:bulletEnabled val="1"/>
        </dgm:presLayoutVars>
      </dgm:prSet>
      <dgm:spPr/>
    </dgm:pt>
    <dgm:pt modelId="{3406DAC5-B9C6-4129-ADE8-FDCD0EF88A76}" type="pres">
      <dgm:prSet presAssocID="{86D56A2A-ACBF-4669-B6AF-B3D238C3F778}" presName="ThreeConn_2-3" presStyleLbl="fgAccFollowNode1" presStyleIdx="1" presStyleCnt="2">
        <dgm:presLayoutVars>
          <dgm:bulletEnabled val="1"/>
        </dgm:presLayoutVars>
      </dgm:prSet>
      <dgm:spPr/>
    </dgm:pt>
    <dgm:pt modelId="{A1EC2748-6828-4D7C-8BD4-3FC25899CA3C}" type="pres">
      <dgm:prSet presAssocID="{86D56A2A-ACBF-4669-B6AF-B3D238C3F778}" presName="ThreeNodes_1_text" presStyleLbl="node1" presStyleIdx="2" presStyleCnt="3">
        <dgm:presLayoutVars>
          <dgm:bulletEnabled val="1"/>
        </dgm:presLayoutVars>
      </dgm:prSet>
      <dgm:spPr/>
    </dgm:pt>
    <dgm:pt modelId="{CBB4EF2E-4B10-4913-88A8-A2052EF9886C}" type="pres">
      <dgm:prSet presAssocID="{86D56A2A-ACBF-4669-B6AF-B3D238C3F778}" presName="ThreeNodes_2_text" presStyleLbl="node1" presStyleIdx="2" presStyleCnt="3">
        <dgm:presLayoutVars>
          <dgm:bulletEnabled val="1"/>
        </dgm:presLayoutVars>
      </dgm:prSet>
      <dgm:spPr/>
    </dgm:pt>
    <dgm:pt modelId="{AEF28D52-6791-4446-9B33-7D8FE19C2B80}" type="pres">
      <dgm:prSet presAssocID="{86D56A2A-ACBF-4669-B6AF-B3D238C3F778}" presName="ThreeNodes_3_text" presStyleLbl="node1" presStyleIdx="2" presStyleCnt="3">
        <dgm:presLayoutVars>
          <dgm:bulletEnabled val="1"/>
        </dgm:presLayoutVars>
      </dgm:prSet>
      <dgm:spPr/>
    </dgm:pt>
  </dgm:ptLst>
  <dgm:cxnLst>
    <dgm:cxn modelId="{F4E4A130-A2ED-449D-9187-483C4F04E60A}" type="presOf" srcId="{17817E6B-C498-453A-98D3-7AAC0648D8C7}" destId="{CBB4EF2E-4B10-4913-88A8-A2052EF9886C}" srcOrd="1" destOrd="0" presId="urn:microsoft.com/office/officeart/2005/8/layout/vProcess5"/>
    <dgm:cxn modelId="{CD30D532-C54E-4FB8-AAA6-73A0D93AE435}" type="presOf" srcId="{48B09E8A-6F23-4EAA-9740-7FE7BEE5CB0D}" destId="{A1EC2748-6828-4D7C-8BD4-3FC25899CA3C}" srcOrd="1" destOrd="0" presId="urn:microsoft.com/office/officeart/2005/8/layout/vProcess5"/>
    <dgm:cxn modelId="{320E3046-0B12-492D-8DC8-6AA1B7F03275}" type="presOf" srcId="{D7AE5351-6549-4A74-9559-2EAC5BA18A6A}" destId="{A7732DDB-80E0-4972-9E2D-9C023C34CC77}" srcOrd="0" destOrd="0" presId="urn:microsoft.com/office/officeart/2005/8/layout/vProcess5"/>
    <dgm:cxn modelId="{F1F18C51-67A6-40AD-AE50-63B84969090F}" type="presOf" srcId="{D7AE5351-6549-4A74-9559-2EAC5BA18A6A}" destId="{AEF28D52-6791-4446-9B33-7D8FE19C2B80}" srcOrd="1" destOrd="0" presId="urn:microsoft.com/office/officeart/2005/8/layout/vProcess5"/>
    <dgm:cxn modelId="{D2B00C54-2738-444D-8412-AFFDC2CDCC27}" type="presOf" srcId="{48B09E8A-6F23-4EAA-9740-7FE7BEE5CB0D}" destId="{2050F9C5-0C43-40BB-BAC5-D9DAE7A70A0D}" srcOrd="0" destOrd="0" presId="urn:microsoft.com/office/officeart/2005/8/layout/vProcess5"/>
    <dgm:cxn modelId="{264AD277-DF86-44A0-859C-C21F1A70DF57}" type="presOf" srcId="{EC8EFFCA-B656-4B89-AAC2-EFF43A1C2E5B}" destId="{5158718E-F842-4C30-B8E9-BB5E33DE5CBB}" srcOrd="0" destOrd="0" presId="urn:microsoft.com/office/officeart/2005/8/layout/vProcess5"/>
    <dgm:cxn modelId="{2D87CF78-A65F-48FC-9327-2CE2EC00A6EF}" srcId="{86D56A2A-ACBF-4669-B6AF-B3D238C3F778}" destId="{17817E6B-C498-453A-98D3-7AAC0648D8C7}" srcOrd="1" destOrd="0" parTransId="{EE1C8783-773A-426B-B861-15BCFC536B9B}" sibTransId="{700E699E-2AA7-4156-8A0E-780810D68F16}"/>
    <dgm:cxn modelId="{C1C95185-8A90-4D5E-A396-11E6013201F1}" type="presOf" srcId="{86D56A2A-ACBF-4669-B6AF-B3D238C3F778}" destId="{A5D01F55-E65E-42E9-A1A7-AB5C9AEDB284}" srcOrd="0" destOrd="0" presId="urn:microsoft.com/office/officeart/2005/8/layout/vProcess5"/>
    <dgm:cxn modelId="{CBA8E08A-89A6-45D5-99D5-03846A791C6C}" type="presOf" srcId="{17817E6B-C498-453A-98D3-7AAC0648D8C7}" destId="{0320B8D4-19AF-4AE1-B4E2-75B4925779B8}" srcOrd="0" destOrd="0" presId="urn:microsoft.com/office/officeart/2005/8/layout/vProcess5"/>
    <dgm:cxn modelId="{245A4B95-555A-4563-AFDE-760380000173}" type="presOf" srcId="{700E699E-2AA7-4156-8A0E-780810D68F16}" destId="{3406DAC5-B9C6-4129-ADE8-FDCD0EF88A76}" srcOrd="0" destOrd="0" presId="urn:microsoft.com/office/officeart/2005/8/layout/vProcess5"/>
    <dgm:cxn modelId="{3E2BA8C1-0429-4527-A5C9-10D5E81E016A}" srcId="{86D56A2A-ACBF-4669-B6AF-B3D238C3F778}" destId="{48B09E8A-6F23-4EAA-9740-7FE7BEE5CB0D}" srcOrd="0" destOrd="0" parTransId="{74D3C31C-3ADD-45B1-8679-C55AE0CC2D49}" sibTransId="{EC8EFFCA-B656-4B89-AAC2-EFF43A1C2E5B}"/>
    <dgm:cxn modelId="{E579B2EE-E4B5-48A8-8B97-B78AE65CDDE6}" srcId="{86D56A2A-ACBF-4669-B6AF-B3D238C3F778}" destId="{D7AE5351-6549-4A74-9559-2EAC5BA18A6A}" srcOrd="2" destOrd="0" parTransId="{9187F6BF-9585-4C60-AFC9-A941B3428E52}" sibTransId="{7951B0FF-6960-45B1-8535-053078621388}"/>
    <dgm:cxn modelId="{408D59EC-0E4C-4459-9D0A-3028F4216FB1}" type="presParOf" srcId="{A5D01F55-E65E-42E9-A1A7-AB5C9AEDB284}" destId="{8714BDA1-470F-47DA-B03D-02E5CA0235EF}" srcOrd="0" destOrd="0" presId="urn:microsoft.com/office/officeart/2005/8/layout/vProcess5"/>
    <dgm:cxn modelId="{E7AE9E6E-4215-4B79-BEF5-70A6D114968A}" type="presParOf" srcId="{A5D01F55-E65E-42E9-A1A7-AB5C9AEDB284}" destId="{2050F9C5-0C43-40BB-BAC5-D9DAE7A70A0D}" srcOrd="1" destOrd="0" presId="urn:microsoft.com/office/officeart/2005/8/layout/vProcess5"/>
    <dgm:cxn modelId="{1E3357F3-2606-4A59-9B79-96794464A24C}" type="presParOf" srcId="{A5D01F55-E65E-42E9-A1A7-AB5C9AEDB284}" destId="{0320B8D4-19AF-4AE1-B4E2-75B4925779B8}" srcOrd="2" destOrd="0" presId="urn:microsoft.com/office/officeart/2005/8/layout/vProcess5"/>
    <dgm:cxn modelId="{9F5B5747-6DF8-4D15-9C78-C3BBD4F10C9A}" type="presParOf" srcId="{A5D01F55-E65E-42E9-A1A7-AB5C9AEDB284}" destId="{A7732DDB-80E0-4972-9E2D-9C023C34CC77}" srcOrd="3" destOrd="0" presId="urn:microsoft.com/office/officeart/2005/8/layout/vProcess5"/>
    <dgm:cxn modelId="{FD24DEFC-0441-43D2-8BE8-E962FC06B652}" type="presParOf" srcId="{A5D01F55-E65E-42E9-A1A7-AB5C9AEDB284}" destId="{5158718E-F842-4C30-B8E9-BB5E33DE5CBB}" srcOrd="4" destOrd="0" presId="urn:microsoft.com/office/officeart/2005/8/layout/vProcess5"/>
    <dgm:cxn modelId="{922FF927-7776-4A9D-8D49-418745C2E5CE}" type="presParOf" srcId="{A5D01F55-E65E-42E9-A1A7-AB5C9AEDB284}" destId="{3406DAC5-B9C6-4129-ADE8-FDCD0EF88A76}" srcOrd="5" destOrd="0" presId="urn:microsoft.com/office/officeart/2005/8/layout/vProcess5"/>
    <dgm:cxn modelId="{15A81EF3-F1B4-435D-9F05-7F81A511629A}" type="presParOf" srcId="{A5D01F55-E65E-42E9-A1A7-AB5C9AEDB284}" destId="{A1EC2748-6828-4D7C-8BD4-3FC25899CA3C}" srcOrd="6" destOrd="0" presId="urn:microsoft.com/office/officeart/2005/8/layout/vProcess5"/>
    <dgm:cxn modelId="{A5C99F44-BA54-4C20-81B8-EF5DA2DB7630}" type="presParOf" srcId="{A5D01F55-E65E-42E9-A1A7-AB5C9AEDB284}" destId="{CBB4EF2E-4B10-4913-88A8-A2052EF9886C}" srcOrd="7" destOrd="0" presId="urn:microsoft.com/office/officeart/2005/8/layout/vProcess5"/>
    <dgm:cxn modelId="{01BFDA2E-3C09-4D8C-973E-E3D9CA5B6862}" type="presParOf" srcId="{A5D01F55-E65E-42E9-A1A7-AB5C9AEDB284}" destId="{AEF28D52-6791-4446-9B33-7D8FE19C2B80}"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4AA5AC-E63D-4A02-8B95-EFF1C8C5297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CCEADA6-D853-4445-AADF-FA476B3690A0}">
      <dgm:prSet/>
      <dgm:spPr/>
      <dgm:t>
        <a:bodyPr/>
        <a:lstStyle/>
        <a:p>
          <a:pPr>
            <a:lnSpc>
              <a:spcPct val="100000"/>
            </a:lnSpc>
          </a:pPr>
          <a:r>
            <a:rPr lang="en-US"/>
            <a:t>The Process: Following the Randomized Search, an automated Optuna study was executed over 30 trials to perform a deep-dive into the model's error surface.</a:t>
          </a:r>
        </a:p>
      </dgm:t>
    </dgm:pt>
    <dgm:pt modelId="{F021D00C-A8DF-4E92-9FF5-BF2C0703FBDE}" type="parTrans" cxnId="{93212283-B8E9-42BC-AD63-10B017E51937}">
      <dgm:prSet/>
      <dgm:spPr/>
      <dgm:t>
        <a:bodyPr/>
        <a:lstStyle/>
        <a:p>
          <a:endParaRPr lang="en-US"/>
        </a:p>
      </dgm:t>
    </dgm:pt>
    <dgm:pt modelId="{D12B20AF-22E5-4292-B7B0-ED0CEC447BA2}" type="sibTrans" cxnId="{93212283-B8E9-42BC-AD63-10B017E51937}">
      <dgm:prSet/>
      <dgm:spPr/>
      <dgm:t>
        <a:bodyPr/>
        <a:lstStyle/>
        <a:p>
          <a:endParaRPr lang="en-US"/>
        </a:p>
      </dgm:t>
    </dgm:pt>
    <dgm:pt modelId="{A916B2D0-6F41-42B8-90E2-6CA4C6A73C10}">
      <dgm:prSet/>
      <dgm:spPr/>
      <dgm:t>
        <a:bodyPr/>
        <a:lstStyle/>
        <a:p>
          <a:pPr>
            <a:lnSpc>
              <a:spcPct val="100000"/>
            </a:lnSpc>
          </a:pPr>
          <a:r>
            <a:rPr lang="en-US"/>
            <a:t>MSE Minimization: The study specifically targeted the reduction of Mean Squared Error (MSE). By minimizing the average of the squares of the errors, the model was trained to be highly intolerant of large outliers in risk prediction.</a:t>
          </a:r>
        </a:p>
      </dgm:t>
    </dgm:pt>
    <dgm:pt modelId="{ABB1C306-C3DC-4419-B347-008D12C04DA0}" type="parTrans" cxnId="{183679B6-51AB-4618-8FC3-FA11583B1C98}">
      <dgm:prSet/>
      <dgm:spPr/>
      <dgm:t>
        <a:bodyPr/>
        <a:lstStyle/>
        <a:p>
          <a:endParaRPr lang="en-US"/>
        </a:p>
      </dgm:t>
    </dgm:pt>
    <dgm:pt modelId="{21A64D7A-668A-463B-8C64-FCCE8E54A9D1}" type="sibTrans" cxnId="{183679B6-51AB-4618-8FC3-FA11583B1C98}">
      <dgm:prSet/>
      <dgm:spPr/>
      <dgm:t>
        <a:bodyPr/>
        <a:lstStyle/>
        <a:p>
          <a:endParaRPr lang="en-US"/>
        </a:p>
      </dgm:t>
    </dgm:pt>
    <dgm:pt modelId="{FD4BB90D-F294-422C-B1C1-B72703DD8C49}">
      <dgm:prSet/>
      <dgm:spPr/>
      <dgm:t>
        <a:bodyPr/>
        <a:lstStyle/>
        <a:p>
          <a:pPr>
            <a:lnSpc>
              <a:spcPct val="100000"/>
            </a:lnSpc>
          </a:pPr>
          <a:r>
            <a:rPr lang="en-US"/>
            <a:t>The Refinement: Unlike the broad Randomized Search, Optuna utilized previous trial data to "zero in" on the parameters that yielded the lowest MSE, ensuring the tightest possible prediction margins.</a:t>
          </a:r>
        </a:p>
      </dgm:t>
    </dgm:pt>
    <dgm:pt modelId="{62E9441E-6693-40AD-AA72-5B39CBF90151}" type="parTrans" cxnId="{592850AD-F974-48AF-BA3C-C624A0B7FA46}">
      <dgm:prSet/>
      <dgm:spPr/>
      <dgm:t>
        <a:bodyPr/>
        <a:lstStyle/>
        <a:p>
          <a:endParaRPr lang="en-US"/>
        </a:p>
      </dgm:t>
    </dgm:pt>
    <dgm:pt modelId="{B70F60C4-E06F-4369-B33C-7981AABFD121}" type="sibTrans" cxnId="{592850AD-F974-48AF-BA3C-C624A0B7FA46}">
      <dgm:prSet/>
      <dgm:spPr/>
      <dgm:t>
        <a:bodyPr/>
        <a:lstStyle/>
        <a:p>
          <a:endParaRPr lang="en-US"/>
        </a:p>
      </dgm:t>
    </dgm:pt>
    <dgm:pt modelId="{7ADA72D6-3256-449D-8CA5-08468C089A05}">
      <dgm:prSet/>
      <dgm:spPr/>
      <dgm:t>
        <a:bodyPr/>
        <a:lstStyle/>
        <a:p>
          <a:pPr>
            <a:lnSpc>
              <a:spcPct val="100000"/>
            </a:lnSpc>
          </a:pPr>
          <a:r>
            <a:rPr lang="en-US"/>
            <a:t>Result: This granular approach achieved a Best MSE of 0.0197, ensuring the model is clinically reliable for individual risk assessment.</a:t>
          </a:r>
        </a:p>
      </dgm:t>
    </dgm:pt>
    <dgm:pt modelId="{12CA422A-59A1-4E16-9F1F-8B8DD29850A0}" type="parTrans" cxnId="{543BFF04-8B86-400E-8BDE-85EA68C5E269}">
      <dgm:prSet/>
      <dgm:spPr/>
      <dgm:t>
        <a:bodyPr/>
        <a:lstStyle/>
        <a:p>
          <a:endParaRPr lang="en-US"/>
        </a:p>
      </dgm:t>
    </dgm:pt>
    <dgm:pt modelId="{4967BBA9-7C1C-45B1-971E-A41989995C32}" type="sibTrans" cxnId="{543BFF04-8B86-400E-8BDE-85EA68C5E269}">
      <dgm:prSet/>
      <dgm:spPr/>
      <dgm:t>
        <a:bodyPr/>
        <a:lstStyle/>
        <a:p>
          <a:endParaRPr lang="en-US"/>
        </a:p>
      </dgm:t>
    </dgm:pt>
    <dgm:pt modelId="{8EDEF643-8818-40B2-B5E8-A42AE6C66FFD}" type="pres">
      <dgm:prSet presAssocID="{7C4AA5AC-E63D-4A02-8B95-EFF1C8C52973}" presName="root" presStyleCnt="0">
        <dgm:presLayoutVars>
          <dgm:dir/>
          <dgm:resizeHandles val="exact"/>
        </dgm:presLayoutVars>
      </dgm:prSet>
      <dgm:spPr/>
    </dgm:pt>
    <dgm:pt modelId="{79F9F479-6BDB-426B-A0D5-3377E7AB7F50}" type="pres">
      <dgm:prSet presAssocID="{6CCEADA6-D853-4445-AADF-FA476B3690A0}" presName="compNode" presStyleCnt="0"/>
      <dgm:spPr/>
    </dgm:pt>
    <dgm:pt modelId="{944E47B9-45E6-480A-9F65-19E9836357CA}" type="pres">
      <dgm:prSet presAssocID="{6CCEADA6-D853-4445-AADF-FA476B3690A0}" presName="bgRect" presStyleLbl="bgShp" presStyleIdx="0" presStyleCnt="4"/>
      <dgm:spPr/>
    </dgm:pt>
    <dgm:pt modelId="{16B059B1-A985-4C7F-A06C-A2D570C6BAD9}" type="pres">
      <dgm:prSet presAssocID="{6CCEADA6-D853-4445-AADF-FA476B3690A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lter"/>
        </a:ext>
      </dgm:extLst>
    </dgm:pt>
    <dgm:pt modelId="{E8055B50-BEC0-41B6-83DC-04653F136CE6}" type="pres">
      <dgm:prSet presAssocID="{6CCEADA6-D853-4445-AADF-FA476B3690A0}" presName="spaceRect" presStyleCnt="0"/>
      <dgm:spPr/>
    </dgm:pt>
    <dgm:pt modelId="{76B94A01-2157-48F7-A43A-530428724286}" type="pres">
      <dgm:prSet presAssocID="{6CCEADA6-D853-4445-AADF-FA476B3690A0}" presName="parTx" presStyleLbl="revTx" presStyleIdx="0" presStyleCnt="4">
        <dgm:presLayoutVars>
          <dgm:chMax val="0"/>
          <dgm:chPref val="0"/>
        </dgm:presLayoutVars>
      </dgm:prSet>
      <dgm:spPr/>
    </dgm:pt>
    <dgm:pt modelId="{32901ECC-2D4C-450F-98C9-99F91A076831}" type="pres">
      <dgm:prSet presAssocID="{D12B20AF-22E5-4292-B7B0-ED0CEC447BA2}" presName="sibTrans" presStyleCnt="0"/>
      <dgm:spPr/>
    </dgm:pt>
    <dgm:pt modelId="{D9414E1A-6EF0-414A-AE10-21D287E8E962}" type="pres">
      <dgm:prSet presAssocID="{A916B2D0-6F41-42B8-90E2-6CA4C6A73C10}" presName="compNode" presStyleCnt="0"/>
      <dgm:spPr/>
    </dgm:pt>
    <dgm:pt modelId="{DF88CECE-B5AD-4BC6-B128-517492D7EE8E}" type="pres">
      <dgm:prSet presAssocID="{A916B2D0-6F41-42B8-90E2-6CA4C6A73C10}" presName="bgRect" presStyleLbl="bgShp" presStyleIdx="1" presStyleCnt="4"/>
      <dgm:spPr/>
    </dgm:pt>
    <dgm:pt modelId="{65A7ACF1-1981-4929-BFE7-38D4A492EA07}" type="pres">
      <dgm:prSet presAssocID="{A916B2D0-6F41-42B8-90E2-6CA4C6A73C1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8DA9B800-51FD-4588-8346-7F421758A73D}" type="pres">
      <dgm:prSet presAssocID="{A916B2D0-6F41-42B8-90E2-6CA4C6A73C10}" presName="spaceRect" presStyleCnt="0"/>
      <dgm:spPr/>
    </dgm:pt>
    <dgm:pt modelId="{0BF7CBDE-EF56-4774-9542-37D39AE7B8D6}" type="pres">
      <dgm:prSet presAssocID="{A916B2D0-6F41-42B8-90E2-6CA4C6A73C10}" presName="parTx" presStyleLbl="revTx" presStyleIdx="1" presStyleCnt="4">
        <dgm:presLayoutVars>
          <dgm:chMax val="0"/>
          <dgm:chPref val="0"/>
        </dgm:presLayoutVars>
      </dgm:prSet>
      <dgm:spPr/>
    </dgm:pt>
    <dgm:pt modelId="{83EC3F08-6127-4A5F-9E3D-02505D0274C3}" type="pres">
      <dgm:prSet presAssocID="{21A64D7A-668A-463B-8C64-FCCE8E54A9D1}" presName="sibTrans" presStyleCnt="0"/>
      <dgm:spPr/>
    </dgm:pt>
    <dgm:pt modelId="{7DB61C51-5090-4B51-AE7F-4D37D3F8A09B}" type="pres">
      <dgm:prSet presAssocID="{FD4BB90D-F294-422C-B1C1-B72703DD8C49}" presName="compNode" presStyleCnt="0"/>
      <dgm:spPr/>
    </dgm:pt>
    <dgm:pt modelId="{43AD5931-D5C5-4BE5-BB6F-3DBCA1DE7D44}" type="pres">
      <dgm:prSet presAssocID="{FD4BB90D-F294-422C-B1C1-B72703DD8C49}" presName="bgRect" presStyleLbl="bgShp" presStyleIdx="2" presStyleCnt="4"/>
      <dgm:spPr/>
    </dgm:pt>
    <dgm:pt modelId="{2538A505-3E76-4A3C-BF57-49C6C07BBF95}" type="pres">
      <dgm:prSet presAssocID="{FD4BB90D-F294-422C-B1C1-B72703DD8C4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FE8617EE-BDEA-4ADD-833B-90942244F0B0}" type="pres">
      <dgm:prSet presAssocID="{FD4BB90D-F294-422C-B1C1-B72703DD8C49}" presName="spaceRect" presStyleCnt="0"/>
      <dgm:spPr/>
    </dgm:pt>
    <dgm:pt modelId="{58314781-6777-4165-9653-24F21377B9DE}" type="pres">
      <dgm:prSet presAssocID="{FD4BB90D-F294-422C-B1C1-B72703DD8C49}" presName="parTx" presStyleLbl="revTx" presStyleIdx="2" presStyleCnt="4">
        <dgm:presLayoutVars>
          <dgm:chMax val="0"/>
          <dgm:chPref val="0"/>
        </dgm:presLayoutVars>
      </dgm:prSet>
      <dgm:spPr/>
    </dgm:pt>
    <dgm:pt modelId="{B96B20AB-6E76-4A5D-BBBC-A9D6048D2112}" type="pres">
      <dgm:prSet presAssocID="{B70F60C4-E06F-4369-B33C-7981AABFD121}" presName="sibTrans" presStyleCnt="0"/>
      <dgm:spPr/>
    </dgm:pt>
    <dgm:pt modelId="{6E9925F4-1EC5-4770-90BF-065E381C9953}" type="pres">
      <dgm:prSet presAssocID="{7ADA72D6-3256-449D-8CA5-08468C089A05}" presName="compNode" presStyleCnt="0"/>
      <dgm:spPr/>
    </dgm:pt>
    <dgm:pt modelId="{BDA354B9-92EE-4FBF-9A17-0924515FA99F}" type="pres">
      <dgm:prSet presAssocID="{7ADA72D6-3256-449D-8CA5-08468C089A05}" presName="bgRect" presStyleLbl="bgShp" presStyleIdx="3" presStyleCnt="4"/>
      <dgm:spPr/>
    </dgm:pt>
    <dgm:pt modelId="{2645CFC6-0875-4607-94D8-9BE797DC6F1F}" type="pres">
      <dgm:prSet presAssocID="{7ADA72D6-3256-449D-8CA5-08468C089A0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ullseye"/>
        </a:ext>
      </dgm:extLst>
    </dgm:pt>
    <dgm:pt modelId="{DFF2E34C-A3BE-475E-BD63-E38A265914AF}" type="pres">
      <dgm:prSet presAssocID="{7ADA72D6-3256-449D-8CA5-08468C089A05}" presName="spaceRect" presStyleCnt="0"/>
      <dgm:spPr/>
    </dgm:pt>
    <dgm:pt modelId="{2544B8B7-5338-4F52-829A-05B60C2F5DC8}" type="pres">
      <dgm:prSet presAssocID="{7ADA72D6-3256-449D-8CA5-08468C089A05}" presName="parTx" presStyleLbl="revTx" presStyleIdx="3" presStyleCnt="4">
        <dgm:presLayoutVars>
          <dgm:chMax val="0"/>
          <dgm:chPref val="0"/>
        </dgm:presLayoutVars>
      </dgm:prSet>
      <dgm:spPr/>
    </dgm:pt>
  </dgm:ptLst>
  <dgm:cxnLst>
    <dgm:cxn modelId="{543BFF04-8B86-400E-8BDE-85EA68C5E269}" srcId="{7C4AA5AC-E63D-4A02-8B95-EFF1C8C52973}" destId="{7ADA72D6-3256-449D-8CA5-08468C089A05}" srcOrd="3" destOrd="0" parTransId="{12CA422A-59A1-4E16-9F1F-8B8DD29850A0}" sibTransId="{4967BBA9-7C1C-45B1-971E-A41989995C32}"/>
    <dgm:cxn modelId="{8EA37509-40BC-4F4C-A56D-533C4520BAB0}" type="presOf" srcId="{7ADA72D6-3256-449D-8CA5-08468C089A05}" destId="{2544B8B7-5338-4F52-829A-05B60C2F5DC8}" srcOrd="0" destOrd="0" presId="urn:microsoft.com/office/officeart/2018/2/layout/IconVerticalSolidList"/>
    <dgm:cxn modelId="{10930A45-1930-4767-A37C-F83FD8603D20}" type="presOf" srcId="{7C4AA5AC-E63D-4A02-8B95-EFF1C8C52973}" destId="{8EDEF643-8818-40B2-B5E8-A42AE6C66FFD}" srcOrd="0" destOrd="0" presId="urn:microsoft.com/office/officeart/2018/2/layout/IconVerticalSolidList"/>
    <dgm:cxn modelId="{93212283-B8E9-42BC-AD63-10B017E51937}" srcId="{7C4AA5AC-E63D-4A02-8B95-EFF1C8C52973}" destId="{6CCEADA6-D853-4445-AADF-FA476B3690A0}" srcOrd="0" destOrd="0" parTransId="{F021D00C-A8DF-4E92-9FF5-BF2C0703FBDE}" sibTransId="{D12B20AF-22E5-4292-B7B0-ED0CEC447BA2}"/>
    <dgm:cxn modelId="{592850AD-F974-48AF-BA3C-C624A0B7FA46}" srcId="{7C4AA5AC-E63D-4A02-8B95-EFF1C8C52973}" destId="{FD4BB90D-F294-422C-B1C1-B72703DD8C49}" srcOrd="2" destOrd="0" parTransId="{62E9441E-6693-40AD-AA72-5B39CBF90151}" sibTransId="{B70F60C4-E06F-4369-B33C-7981AABFD121}"/>
    <dgm:cxn modelId="{183679B6-51AB-4618-8FC3-FA11583B1C98}" srcId="{7C4AA5AC-E63D-4A02-8B95-EFF1C8C52973}" destId="{A916B2D0-6F41-42B8-90E2-6CA4C6A73C10}" srcOrd="1" destOrd="0" parTransId="{ABB1C306-C3DC-4419-B347-008D12C04DA0}" sibTransId="{21A64D7A-668A-463B-8C64-FCCE8E54A9D1}"/>
    <dgm:cxn modelId="{F4039EBA-6A0B-4144-996E-C654F901EAA0}" type="presOf" srcId="{A916B2D0-6F41-42B8-90E2-6CA4C6A73C10}" destId="{0BF7CBDE-EF56-4774-9542-37D39AE7B8D6}" srcOrd="0" destOrd="0" presId="urn:microsoft.com/office/officeart/2018/2/layout/IconVerticalSolidList"/>
    <dgm:cxn modelId="{66B9D8DC-5CF2-4884-B93F-54A8729A42AB}" type="presOf" srcId="{FD4BB90D-F294-422C-B1C1-B72703DD8C49}" destId="{58314781-6777-4165-9653-24F21377B9DE}" srcOrd="0" destOrd="0" presId="urn:microsoft.com/office/officeart/2018/2/layout/IconVerticalSolidList"/>
    <dgm:cxn modelId="{ED7DC6F0-2B5E-48A5-8E19-4E7F59F7B762}" type="presOf" srcId="{6CCEADA6-D853-4445-AADF-FA476B3690A0}" destId="{76B94A01-2157-48F7-A43A-530428724286}" srcOrd="0" destOrd="0" presId="urn:microsoft.com/office/officeart/2018/2/layout/IconVerticalSolidList"/>
    <dgm:cxn modelId="{8DDB362E-2DF8-4D9B-BDEE-8C24ADBD9D73}" type="presParOf" srcId="{8EDEF643-8818-40B2-B5E8-A42AE6C66FFD}" destId="{79F9F479-6BDB-426B-A0D5-3377E7AB7F50}" srcOrd="0" destOrd="0" presId="urn:microsoft.com/office/officeart/2018/2/layout/IconVerticalSolidList"/>
    <dgm:cxn modelId="{E2CF43D0-B2D1-4781-B066-898EB48D7CCA}" type="presParOf" srcId="{79F9F479-6BDB-426B-A0D5-3377E7AB7F50}" destId="{944E47B9-45E6-480A-9F65-19E9836357CA}" srcOrd="0" destOrd="0" presId="urn:microsoft.com/office/officeart/2018/2/layout/IconVerticalSolidList"/>
    <dgm:cxn modelId="{716A782E-E806-417B-BCDB-F3FF658EB389}" type="presParOf" srcId="{79F9F479-6BDB-426B-A0D5-3377E7AB7F50}" destId="{16B059B1-A985-4C7F-A06C-A2D570C6BAD9}" srcOrd="1" destOrd="0" presId="urn:microsoft.com/office/officeart/2018/2/layout/IconVerticalSolidList"/>
    <dgm:cxn modelId="{497803D7-7153-485D-B4BE-EBDDB0EA454E}" type="presParOf" srcId="{79F9F479-6BDB-426B-A0D5-3377E7AB7F50}" destId="{E8055B50-BEC0-41B6-83DC-04653F136CE6}" srcOrd="2" destOrd="0" presId="urn:microsoft.com/office/officeart/2018/2/layout/IconVerticalSolidList"/>
    <dgm:cxn modelId="{917BA1EE-67CE-4E15-AD20-FC8B376642EB}" type="presParOf" srcId="{79F9F479-6BDB-426B-A0D5-3377E7AB7F50}" destId="{76B94A01-2157-48F7-A43A-530428724286}" srcOrd="3" destOrd="0" presId="urn:microsoft.com/office/officeart/2018/2/layout/IconVerticalSolidList"/>
    <dgm:cxn modelId="{5DA486BA-05F8-4E7F-826A-75FD1D6B2766}" type="presParOf" srcId="{8EDEF643-8818-40B2-B5E8-A42AE6C66FFD}" destId="{32901ECC-2D4C-450F-98C9-99F91A076831}" srcOrd="1" destOrd="0" presId="urn:microsoft.com/office/officeart/2018/2/layout/IconVerticalSolidList"/>
    <dgm:cxn modelId="{B0EED1D7-5E81-4E1A-83A8-EF5EBBEF9D4F}" type="presParOf" srcId="{8EDEF643-8818-40B2-B5E8-A42AE6C66FFD}" destId="{D9414E1A-6EF0-414A-AE10-21D287E8E962}" srcOrd="2" destOrd="0" presId="urn:microsoft.com/office/officeart/2018/2/layout/IconVerticalSolidList"/>
    <dgm:cxn modelId="{607C5DD0-673D-4FFA-B1E4-5134D1252A86}" type="presParOf" srcId="{D9414E1A-6EF0-414A-AE10-21D287E8E962}" destId="{DF88CECE-B5AD-4BC6-B128-517492D7EE8E}" srcOrd="0" destOrd="0" presId="urn:microsoft.com/office/officeart/2018/2/layout/IconVerticalSolidList"/>
    <dgm:cxn modelId="{07847E88-9ED1-45DE-A9B9-EE227C025753}" type="presParOf" srcId="{D9414E1A-6EF0-414A-AE10-21D287E8E962}" destId="{65A7ACF1-1981-4929-BFE7-38D4A492EA07}" srcOrd="1" destOrd="0" presId="urn:microsoft.com/office/officeart/2018/2/layout/IconVerticalSolidList"/>
    <dgm:cxn modelId="{CC604A0C-387F-42B1-80F1-B73B528CE529}" type="presParOf" srcId="{D9414E1A-6EF0-414A-AE10-21D287E8E962}" destId="{8DA9B800-51FD-4588-8346-7F421758A73D}" srcOrd="2" destOrd="0" presId="urn:microsoft.com/office/officeart/2018/2/layout/IconVerticalSolidList"/>
    <dgm:cxn modelId="{050E8919-8B6D-4D64-A825-488AC3080D0B}" type="presParOf" srcId="{D9414E1A-6EF0-414A-AE10-21D287E8E962}" destId="{0BF7CBDE-EF56-4774-9542-37D39AE7B8D6}" srcOrd="3" destOrd="0" presId="urn:microsoft.com/office/officeart/2018/2/layout/IconVerticalSolidList"/>
    <dgm:cxn modelId="{EE0EA5AC-F6B7-4D4E-BFAC-C28861CEB1FF}" type="presParOf" srcId="{8EDEF643-8818-40B2-B5E8-A42AE6C66FFD}" destId="{83EC3F08-6127-4A5F-9E3D-02505D0274C3}" srcOrd="3" destOrd="0" presId="urn:microsoft.com/office/officeart/2018/2/layout/IconVerticalSolidList"/>
    <dgm:cxn modelId="{3D66A1CF-235C-40D9-BE02-DDD07B4DC0E2}" type="presParOf" srcId="{8EDEF643-8818-40B2-B5E8-A42AE6C66FFD}" destId="{7DB61C51-5090-4B51-AE7F-4D37D3F8A09B}" srcOrd="4" destOrd="0" presId="urn:microsoft.com/office/officeart/2018/2/layout/IconVerticalSolidList"/>
    <dgm:cxn modelId="{5AE0CAD7-FA05-4657-97AE-1E26182638E4}" type="presParOf" srcId="{7DB61C51-5090-4B51-AE7F-4D37D3F8A09B}" destId="{43AD5931-D5C5-4BE5-BB6F-3DBCA1DE7D44}" srcOrd="0" destOrd="0" presId="urn:microsoft.com/office/officeart/2018/2/layout/IconVerticalSolidList"/>
    <dgm:cxn modelId="{A76CD005-67A3-486D-8E1C-233817C96CA0}" type="presParOf" srcId="{7DB61C51-5090-4B51-AE7F-4D37D3F8A09B}" destId="{2538A505-3E76-4A3C-BF57-49C6C07BBF95}" srcOrd="1" destOrd="0" presId="urn:microsoft.com/office/officeart/2018/2/layout/IconVerticalSolidList"/>
    <dgm:cxn modelId="{0623BC60-6D78-4D13-B221-00B127282527}" type="presParOf" srcId="{7DB61C51-5090-4B51-AE7F-4D37D3F8A09B}" destId="{FE8617EE-BDEA-4ADD-833B-90942244F0B0}" srcOrd="2" destOrd="0" presId="urn:microsoft.com/office/officeart/2018/2/layout/IconVerticalSolidList"/>
    <dgm:cxn modelId="{7DA35382-8969-4956-94AA-A202D83BAC42}" type="presParOf" srcId="{7DB61C51-5090-4B51-AE7F-4D37D3F8A09B}" destId="{58314781-6777-4165-9653-24F21377B9DE}" srcOrd="3" destOrd="0" presId="urn:microsoft.com/office/officeart/2018/2/layout/IconVerticalSolidList"/>
    <dgm:cxn modelId="{4D24EAAC-3F41-4343-A4F4-9E1F8D159280}" type="presParOf" srcId="{8EDEF643-8818-40B2-B5E8-A42AE6C66FFD}" destId="{B96B20AB-6E76-4A5D-BBBC-A9D6048D2112}" srcOrd="5" destOrd="0" presId="urn:microsoft.com/office/officeart/2018/2/layout/IconVerticalSolidList"/>
    <dgm:cxn modelId="{AB919611-4574-4895-8452-630CC91D1297}" type="presParOf" srcId="{8EDEF643-8818-40B2-B5E8-A42AE6C66FFD}" destId="{6E9925F4-1EC5-4770-90BF-065E381C9953}" srcOrd="6" destOrd="0" presId="urn:microsoft.com/office/officeart/2018/2/layout/IconVerticalSolidList"/>
    <dgm:cxn modelId="{DEABBECA-4A0E-41E6-9001-616B53F2634B}" type="presParOf" srcId="{6E9925F4-1EC5-4770-90BF-065E381C9953}" destId="{BDA354B9-92EE-4FBF-9A17-0924515FA99F}" srcOrd="0" destOrd="0" presId="urn:microsoft.com/office/officeart/2018/2/layout/IconVerticalSolidList"/>
    <dgm:cxn modelId="{35A14F6C-1514-420D-949E-A7D56ACC552D}" type="presParOf" srcId="{6E9925F4-1EC5-4770-90BF-065E381C9953}" destId="{2645CFC6-0875-4607-94D8-9BE797DC6F1F}" srcOrd="1" destOrd="0" presId="urn:microsoft.com/office/officeart/2018/2/layout/IconVerticalSolidList"/>
    <dgm:cxn modelId="{6172DDCC-3A59-42C0-BC52-E7A7C0FA14B3}" type="presParOf" srcId="{6E9925F4-1EC5-4770-90BF-065E381C9953}" destId="{DFF2E34C-A3BE-475E-BD63-E38A265914AF}" srcOrd="2" destOrd="0" presId="urn:microsoft.com/office/officeart/2018/2/layout/IconVerticalSolidList"/>
    <dgm:cxn modelId="{BBF96600-05CE-48F8-B96D-85A46AA807BB}" type="presParOf" srcId="{6E9925F4-1EC5-4770-90BF-065E381C9953}" destId="{2544B8B7-5338-4F52-829A-05B60C2F5DC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791E3EE-52A8-4DED-B010-20680A8B9BF5}"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9D5283D3-0A27-4745-BE81-9CCC78A4509A}">
      <dgm:prSet/>
      <dgm:spPr/>
      <dgm:t>
        <a:bodyPr/>
        <a:lstStyle/>
        <a:p>
          <a:r>
            <a:rPr lang="en-US" b="1"/>
            <a:t>Early Detection:</a:t>
          </a:r>
          <a:r>
            <a:rPr lang="en-US"/>
            <a:t> Prioritizing patients for CT scans using non-invasive digital markers.</a:t>
          </a:r>
        </a:p>
      </dgm:t>
    </dgm:pt>
    <dgm:pt modelId="{8D9A12A9-C06C-41E1-8E53-9D90D9597CEB}" type="parTrans" cxnId="{F1B8693A-A42F-48AD-8F37-9FA83EB3CBAA}">
      <dgm:prSet/>
      <dgm:spPr/>
      <dgm:t>
        <a:bodyPr/>
        <a:lstStyle/>
        <a:p>
          <a:endParaRPr lang="en-US"/>
        </a:p>
      </dgm:t>
    </dgm:pt>
    <dgm:pt modelId="{5DDE1A5E-058A-44D7-99BA-28B963478ADC}" type="sibTrans" cxnId="{F1B8693A-A42F-48AD-8F37-9FA83EB3CBAA}">
      <dgm:prSet/>
      <dgm:spPr/>
      <dgm:t>
        <a:bodyPr/>
        <a:lstStyle/>
        <a:p>
          <a:endParaRPr lang="en-US"/>
        </a:p>
      </dgm:t>
    </dgm:pt>
    <dgm:pt modelId="{C108327E-316B-438D-8221-0C57BC01D84A}">
      <dgm:prSet/>
      <dgm:spPr/>
      <dgm:t>
        <a:bodyPr/>
        <a:lstStyle/>
        <a:p>
          <a:r>
            <a:rPr lang="en-US" b="1"/>
            <a:t>Economic Impact:</a:t>
          </a:r>
          <a:r>
            <a:rPr lang="en-US"/>
            <a:t> Reducing long-term oncology costs by intercepting risk at earlier stages.</a:t>
          </a:r>
        </a:p>
      </dgm:t>
    </dgm:pt>
    <dgm:pt modelId="{D6554D87-91A1-4D72-B313-68A306D88242}" type="parTrans" cxnId="{2C8B64A0-6CFA-4895-9079-970C47D2C835}">
      <dgm:prSet/>
      <dgm:spPr/>
      <dgm:t>
        <a:bodyPr/>
        <a:lstStyle/>
        <a:p>
          <a:endParaRPr lang="en-US"/>
        </a:p>
      </dgm:t>
    </dgm:pt>
    <dgm:pt modelId="{41CC75C9-3D73-433B-AC3F-52305F46D29B}" type="sibTrans" cxnId="{2C8B64A0-6CFA-4895-9079-970C47D2C835}">
      <dgm:prSet/>
      <dgm:spPr/>
      <dgm:t>
        <a:bodyPr/>
        <a:lstStyle/>
        <a:p>
          <a:endParaRPr lang="en-US"/>
        </a:p>
      </dgm:t>
    </dgm:pt>
    <dgm:pt modelId="{B2541B2B-938B-484A-B506-9B62350D5292}">
      <dgm:prSet/>
      <dgm:spPr/>
      <dgm:t>
        <a:bodyPr/>
        <a:lstStyle/>
        <a:p>
          <a:r>
            <a:rPr lang="en-US" b="1"/>
            <a:t>Policy &amp; Wellness:</a:t>
          </a:r>
          <a:r>
            <a:rPr lang="en-US"/>
            <a:t> Data-driven evidence for targeted anti-smoking and pollution-reduction campaigns.</a:t>
          </a:r>
        </a:p>
      </dgm:t>
    </dgm:pt>
    <dgm:pt modelId="{97D89A21-C367-4320-94E7-E4189DB921F2}" type="parTrans" cxnId="{7176A399-2AE5-4C6F-90F8-D1A6C1A7F3A1}">
      <dgm:prSet/>
      <dgm:spPr/>
      <dgm:t>
        <a:bodyPr/>
        <a:lstStyle/>
        <a:p>
          <a:endParaRPr lang="en-US"/>
        </a:p>
      </dgm:t>
    </dgm:pt>
    <dgm:pt modelId="{830EC58A-ACF7-4494-A07D-9B251DD06AEF}" type="sibTrans" cxnId="{7176A399-2AE5-4C6F-90F8-D1A6C1A7F3A1}">
      <dgm:prSet/>
      <dgm:spPr/>
      <dgm:t>
        <a:bodyPr/>
        <a:lstStyle/>
        <a:p>
          <a:endParaRPr lang="en-US"/>
        </a:p>
      </dgm:t>
    </dgm:pt>
    <dgm:pt modelId="{9DC9FB9B-C992-463E-AFAC-F8A9F77EC671}">
      <dgm:prSet/>
      <dgm:spPr/>
      <dgm:t>
        <a:bodyPr/>
        <a:lstStyle/>
        <a:p>
          <a:r>
            <a:rPr lang="en-US" b="1"/>
            <a:t>Future Work:</a:t>
          </a:r>
          <a:r>
            <a:rPr lang="en-US"/>
            <a:t> Scaling the modular EDA-to-Modeling pipeline for other chronic disease datasets.</a:t>
          </a:r>
        </a:p>
      </dgm:t>
    </dgm:pt>
    <dgm:pt modelId="{CDDDD4DC-773A-445C-9EC8-75C656A2E7F9}" type="parTrans" cxnId="{79FF970F-D3A6-4E9E-A39A-10EE7134C32C}">
      <dgm:prSet/>
      <dgm:spPr/>
      <dgm:t>
        <a:bodyPr/>
        <a:lstStyle/>
        <a:p>
          <a:endParaRPr lang="en-US"/>
        </a:p>
      </dgm:t>
    </dgm:pt>
    <dgm:pt modelId="{3D8B7AEA-C900-467D-ABFF-2C7E2AA777A7}" type="sibTrans" cxnId="{79FF970F-D3A6-4E9E-A39A-10EE7134C32C}">
      <dgm:prSet/>
      <dgm:spPr/>
      <dgm:t>
        <a:bodyPr/>
        <a:lstStyle/>
        <a:p>
          <a:endParaRPr lang="en-US"/>
        </a:p>
      </dgm:t>
    </dgm:pt>
    <dgm:pt modelId="{63E2540B-62AC-4105-A1C6-7B6747AFAAF3}" type="pres">
      <dgm:prSet presAssocID="{8791E3EE-52A8-4DED-B010-20680A8B9BF5}" presName="matrix" presStyleCnt="0">
        <dgm:presLayoutVars>
          <dgm:chMax val="1"/>
          <dgm:dir/>
          <dgm:resizeHandles val="exact"/>
        </dgm:presLayoutVars>
      </dgm:prSet>
      <dgm:spPr/>
    </dgm:pt>
    <dgm:pt modelId="{1B48CB28-1947-4137-82E1-3A878EC4320C}" type="pres">
      <dgm:prSet presAssocID="{8791E3EE-52A8-4DED-B010-20680A8B9BF5}" presName="diamond" presStyleLbl="bgShp" presStyleIdx="0" presStyleCnt="1"/>
      <dgm:spPr/>
    </dgm:pt>
    <dgm:pt modelId="{52E71339-20EA-4054-A8E3-51EA7F6C6EE3}" type="pres">
      <dgm:prSet presAssocID="{8791E3EE-52A8-4DED-B010-20680A8B9BF5}" presName="quad1" presStyleLbl="node1" presStyleIdx="0" presStyleCnt="4">
        <dgm:presLayoutVars>
          <dgm:chMax val="0"/>
          <dgm:chPref val="0"/>
          <dgm:bulletEnabled val="1"/>
        </dgm:presLayoutVars>
      </dgm:prSet>
      <dgm:spPr/>
    </dgm:pt>
    <dgm:pt modelId="{B44DED59-9315-44D2-92E8-7E4A8A62F8DF}" type="pres">
      <dgm:prSet presAssocID="{8791E3EE-52A8-4DED-B010-20680A8B9BF5}" presName="quad2" presStyleLbl="node1" presStyleIdx="1" presStyleCnt="4">
        <dgm:presLayoutVars>
          <dgm:chMax val="0"/>
          <dgm:chPref val="0"/>
          <dgm:bulletEnabled val="1"/>
        </dgm:presLayoutVars>
      </dgm:prSet>
      <dgm:spPr/>
    </dgm:pt>
    <dgm:pt modelId="{3A70EBE5-136B-4A56-94E2-49AFD4D0C11E}" type="pres">
      <dgm:prSet presAssocID="{8791E3EE-52A8-4DED-B010-20680A8B9BF5}" presName="quad3" presStyleLbl="node1" presStyleIdx="2" presStyleCnt="4">
        <dgm:presLayoutVars>
          <dgm:chMax val="0"/>
          <dgm:chPref val="0"/>
          <dgm:bulletEnabled val="1"/>
        </dgm:presLayoutVars>
      </dgm:prSet>
      <dgm:spPr/>
    </dgm:pt>
    <dgm:pt modelId="{99433A49-E7C6-4A3E-BACD-1AEAEA9751AC}" type="pres">
      <dgm:prSet presAssocID="{8791E3EE-52A8-4DED-B010-20680A8B9BF5}" presName="quad4" presStyleLbl="node1" presStyleIdx="3" presStyleCnt="4">
        <dgm:presLayoutVars>
          <dgm:chMax val="0"/>
          <dgm:chPref val="0"/>
          <dgm:bulletEnabled val="1"/>
        </dgm:presLayoutVars>
      </dgm:prSet>
      <dgm:spPr/>
    </dgm:pt>
  </dgm:ptLst>
  <dgm:cxnLst>
    <dgm:cxn modelId="{79FF970F-D3A6-4E9E-A39A-10EE7134C32C}" srcId="{8791E3EE-52A8-4DED-B010-20680A8B9BF5}" destId="{9DC9FB9B-C992-463E-AFAC-F8A9F77EC671}" srcOrd="3" destOrd="0" parTransId="{CDDDD4DC-773A-445C-9EC8-75C656A2E7F9}" sibTransId="{3D8B7AEA-C900-467D-ABFF-2C7E2AA777A7}"/>
    <dgm:cxn modelId="{F1B8693A-A42F-48AD-8F37-9FA83EB3CBAA}" srcId="{8791E3EE-52A8-4DED-B010-20680A8B9BF5}" destId="{9D5283D3-0A27-4745-BE81-9CCC78A4509A}" srcOrd="0" destOrd="0" parTransId="{8D9A12A9-C06C-41E1-8E53-9D90D9597CEB}" sibTransId="{5DDE1A5E-058A-44D7-99BA-28B963478ADC}"/>
    <dgm:cxn modelId="{3B6CE74F-755E-40C3-8318-1E04EDA45A11}" type="presOf" srcId="{B2541B2B-938B-484A-B506-9B62350D5292}" destId="{3A70EBE5-136B-4A56-94E2-49AFD4D0C11E}" srcOrd="0" destOrd="0" presId="urn:microsoft.com/office/officeart/2005/8/layout/matrix3"/>
    <dgm:cxn modelId="{E5E03756-6DB0-4E3A-AD3D-DA05D1CDDFC0}" type="presOf" srcId="{9D5283D3-0A27-4745-BE81-9CCC78A4509A}" destId="{52E71339-20EA-4054-A8E3-51EA7F6C6EE3}" srcOrd="0" destOrd="0" presId="urn:microsoft.com/office/officeart/2005/8/layout/matrix3"/>
    <dgm:cxn modelId="{8AC72057-6091-4458-8A2A-390FC7D174E8}" type="presOf" srcId="{9DC9FB9B-C992-463E-AFAC-F8A9F77EC671}" destId="{99433A49-E7C6-4A3E-BACD-1AEAEA9751AC}" srcOrd="0" destOrd="0" presId="urn:microsoft.com/office/officeart/2005/8/layout/matrix3"/>
    <dgm:cxn modelId="{22331491-BFD5-4E12-8E04-F40AD6D18963}" type="presOf" srcId="{8791E3EE-52A8-4DED-B010-20680A8B9BF5}" destId="{63E2540B-62AC-4105-A1C6-7B6747AFAAF3}" srcOrd="0" destOrd="0" presId="urn:microsoft.com/office/officeart/2005/8/layout/matrix3"/>
    <dgm:cxn modelId="{7176A399-2AE5-4C6F-90F8-D1A6C1A7F3A1}" srcId="{8791E3EE-52A8-4DED-B010-20680A8B9BF5}" destId="{B2541B2B-938B-484A-B506-9B62350D5292}" srcOrd="2" destOrd="0" parTransId="{97D89A21-C367-4320-94E7-E4189DB921F2}" sibTransId="{830EC58A-ACF7-4494-A07D-9B251DD06AEF}"/>
    <dgm:cxn modelId="{2C8B64A0-6CFA-4895-9079-970C47D2C835}" srcId="{8791E3EE-52A8-4DED-B010-20680A8B9BF5}" destId="{C108327E-316B-438D-8221-0C57BC01D84A}" srcOrd="1" destOrd="0" parTransId="{D6554D87-91A1-4D72-B313-68A306D88242}" sibTransId="{41CC75C9-3D73-433B-AC3F-52305F46D29B}"/>
    <dgm:cxn modelId="{028180A9-6B8A-4748-86B6-BE20648E08BA}" type="presOf" srcId="{C108327E-316B-438D-8221-0C57BC01D84A}" destId="{B44DED59-9315-44D2-92E8-7E4A8A62F8DF}" srcOrd="0" destOrd="0" presId="urn:microsoft.com/office/officeart/2005/8/layout/matrix3"/>
    <dgm:cxn modelId="{A164B87F-1846-473A-8A36-33B1F16990AE}" type="presParOf" srcId="{63E2540B-62AC-4105-A1C6-7B6747AFAAF3}" destId="{1B48CB28-1947-4137-82E1-3A878EC4320C}" srcOrd="0" destOrd="0" presId="urn:microsoft.com/office/officeart/2005/8/layout/matrix3"/>
    <dgm:cxn modelId="{80DA8239-AC4B-4F67-B667-5ABE099B47F4}" type="presParOf" srcId="{63E2540B-62AC-4105-A1C6-7B6747AFAAF3}" destId="{52E71339-20EA-4054-A8E3-51EA7F6C6EE3}" srcOrd="1" destOrd="0" presId="urn:microsoft.com/office/officeart/2005/8/layout/matrix3"/>
    <dgm:cxn modelId="{46DD67FA-59D7-40CC-87C1-BBAED6968E94}" type="presParOf" srcId="{63E2540B-62AC-4105-A1C6-7B6747AFAAF3}" destId="{B44DED59-9315-44D2-92E8-7E4A8A62F8DF}" srcOrd="2" destOrd="0" presId="urn:microsoft.com/office/officeart/2005/8/layout/matrix3"/>
    <dgm:cxn modelId="{4345F990-ADAB-474E-B5A2-2B5FFAFFD586}" type="presParOf" srcId="{63E2540B-62AC-4105-A1C6-7B6747AFAAF3}" destId="{3A70EBE5-136B-4A56-94E2-49AFD4D0C11E}" srcOrd="3" destOrd="0" presId="urn:microsoft.com/office/officeart/2005/8/layout/matrix3"/>
    <dgm:cxn modelId="{36C3CF18-DEE9-4098-9B20-E335D48319C8}" type="presParOf" srcId="{63E2540B-62AC-4105-A1C6-7B6747AFAAF3}" destId="{99433A49-E7C6-4A3E-BACD-1AEAEA9751AC}"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776A2-041E-4559-A5BA-2B924ADC7A88}">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8974E3-2D9F-402C-AAFB-0692E697582D}">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43F9EA-E6F1-4656-AB07-D650DDE1E604}">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b="1" kern="1200"/>
            <a:t>Overview:</a:t>
          </a:r>
          <a:r>
            <a:rPr lang="en-US" sz="2500" kern="1200"/>
            <a:t> Development of an AI-driven framework to transition from reactive treatment to proactive risk management.</a:t>
          </a:r>
        </a:p>
      </dsp:txBody>
      <dsp:txXfrm>
        <a:off x="1437631" y="531"/>
        <a:ext cx="9077968" cy="1244702"/>
      </dsp:txXfrm>
    </dsp:sp>
    <dsp:sp modelId="{7F671D89-F376-4A9F-AF21-CA5D363DB9A0}">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A078D8-4BDF-4CBD-B695-A74F6BC6DF30}">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2075A2-413F-44E6-88F1-E793C3BF3227}">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b="1" kern="1200"/>
            <a:t>Dataset Scope:</a:t>
          </a:r>
          <a:r>
            <a:rPr lang="en-US" sz="2500" kern="1200"/>
            <a:t> 5,000 patient records across 30 clinical, lifestyle, and demographic variables.</a:t>
          </a:r>
        </a:p>
      </dsp:txBody>
      <dsp:txXfrm>
        <a:off x="1437631" y="1556410"/>
        <a:ext cx="9077968" cy="1244702"/>
      </dsp:txXfrm>
    </dsp:sp>
    <dsp:sp modelId="{7A4D2582-46FF-408A-8A48-FBF6C4583AE2}">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C3EA20-F470-4EFC-9507-32468A11888A}">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51AA57-FF11-4FCD-84CB-A7428C7F6868}">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111250">
            <a:lnSpc>
              <a:spcPct val="90000"/>
            </a:lnSpc>
            <a:spcBef>
              <a:spcPct val="0"/>
            </a:spcBef>
            <a:spcAft>
              <a:spcPct val="35000"/>
            </a:spcAft>
            <a:buNone/>
          </a:pPr>
          <a:r>
            <a:rPr lang="en-US" sz="2500" b="1" kern="1200"/>
            <a:t>Significance:</a:t>
          </a:r>
          <a:r>
            <a:rPr lang="en-US" sz="2500" kern="1200"/>
            <a:t> Utilizing Machine Learning to identify high-risk individuals through non-invasive biomarkers and historical data.</a:t>
          </a:r>
        </a:p>
      </dsp:txBody>
      <dsp:txXfrm>
        <a:off x="1437631" y="3112289"/>
        <a:ext cx="9077968" cy="12447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1EB49E-98E2-45E0-8C41-8CC27C34B79F}">
      <dsp:nvSpPr>
        <dsp:cNvPr id="0" name=""/>
        <dsp:cNvSpPr/>
      </dsp:nvSpPr>
      <dsp:spPr>
        <a:xfrm>
          <a:off x="0" y="12862"/>
          <a:ext cx="6666833" cy="1761398"/>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Dataset Structure:</a:t>
          </a:r>
          <a:r>
            <a:rPr lang="en-US" sz="2500" kern="1200"/>
            <a:t> 5,000 records partitioned into Training (80% / 4,000 samples) and Testing (20% / 1,000 samples).</a:t>
          </a:r>
        </a:p>
      </dsp:txBody>
      <dsp:txXfrm>
        <a:off x="85984" y="98846"/>
        <a:ext cx="6494865" cy="1589430"/>
      </dsp:txXfrm>
    </dsp:sp>
    <dsp:sp modelId="{8153A72A-6942-4BAC-9663-C1E33CF02B74}">
      <dsp:nvSpPr>
        <dsp:cNvPr id="0" name=""/>
        <dsp:cNvSpPr/>
      </dsp:nvSpPr>
      <dsp:spPr>
        <a:xfrm>
          <a:off x="0" y="1846260"/>
          <a:ext cx="6666833" cy="1761398"/>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Feature Engineering:</a:t>
          </a:r>
          <a:r>
            <a:rPr lang="en-US" sz="2500" kern="1200"/>
            <a:t> Integration of environmental (Air Pollution), lifestyle (Pack Years), and clinical (CRP levels, FEV1) features.</a:t>
          </a:r>
        </a:p>
      </dsp:txBody>
      <dsp:txXfrm>
        <a:off x="85984" y="1932244"/>
        <a:ext cx="6494865" cy="1589430"/>
      </dsp:txXfrm>
    </dsp:sp>
    <dsp:sp modelId="{9711D91F-4780-4390-87D6-307E78E24D9D}">
      <dsp:nvSpPr>
        <dsp:cNvPr id="0" name=""/>
        <dsp:cNvSpPr/>
      </dsp:nvSpPr>
      <dsp:spPr>
        <a:xfrm>
          <a:off x="0" y="3679659"/>
          <a:ext cx="6666833" cy="1761398"/>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kern="1200"/>
            <a:t>Statistical Foundation:</a:t>
          </a:r>
          <a:r>
            <a:rPr lang="en-US" sz="2500" kern="1200"/>
            <a:t> Use of Cramér’s V to quantify categorical associations before modeling.</a:t>
          </a:r>
        </a:p>
      </dsp:txBody>
      <dsp:txXfrm>
        <a:off x="85984" y="3765643"/>
        <a:ext cx="6494865" cy="15894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6B266C-7D7C-4D81-B044-D6CCA2F9500B}">
      <dsp:nvSpPr>
        <dsp:cNvPr id="0" name=""/>
        <dsp:cNvSpPr/>
      </dsp:nvSpPr>
      <dsp:spPr>
        <a:xfrm>
          <a:off x="0" y="161627"/>
          <a:ext cx="4438036"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Age Demographic: Mean age of 54.57 years, indicating a mature risk-prone demographic.</a:t>
          </a:r>
        </a:p>
      </dsp:txBody>
      <dsp:txXfrm>
        <a:off x="56372" y="217999"/>
        <a:ext cx="4325292" cy="1042045"/>
      </dsp:txXfrm>
    </dsp:sp>
    <dsp:sp modelId="{6F832928-A5DB-4821-9BDA-6B6B8738A09B}">
      <dsp:nvSpPr>
        <dsp:cNvPr id="0" name=""/>
        <dsp:cNvSpPr/>
      </dsp:nvSpPr>
      <dsp:spPr>
        <a:xfrm>
          <a:off x="0" y="1376897"/>
          <a:ext cx="4438036"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Smoking Intensity: High variability in exposure, with a maximum of 60 pack-years observed.</a:t>
          </a:r>
        </a:p>
      </dsp:txBody>
      <dsp:txXfrm>
        <a:off x="56372" y="1433269"/>
        <a:ext cx="4325292" cy="1042045"/>
      </dsp:txXfrm>
    </dsp:sp>
    <dsp:sp modelId="{60FECCAA-68F6-4D11-B83B-5C518320BDB0}">
      <dsp:nvSpPr>
        <dsp:cNvPr id="0" name=""/>
        <dsp:cNvSpPr/>
      </dsp:nvSpPr>
      <dsp:spPr>
        <a:xfrm>
          <a:off x="0" y="2592167"/>
          <a:ext cx="4438036" cy="1154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Clinical Baseline: Average Oxygen Saturation at 96.09% and Mean CRP (Inflammation marker) at 4.59.</a:t>
          </a:r>
        </a:p>
      </dsp:txBody>
      <dsp:txXfrm>
        <a:off x="56372" y="2648539"/>
        <a:ext cx="4325292" cy="10420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0F9C5-0C43-40BB-BAC5-D9DAE7A70A0D}">
      <dsp:nvSpPr>
        <dsp:cNvPr id="0" name=""/>
        <dsp:cNvSpPr/>
      </dsp:nvSpPr>
      <dsp:spPr>
        <a:xfrm>
          <a:off x="0" y="0"/>
          <a:ext cx="9288654" cy="110682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The Strategy: Before granular tuning, a broad search was conducted using </a:t>
          </a:r>
          <a:r>
            <a:rPr lang="en-US" sz="2100" kern="1200" dirty="0" err="1"/>
            <a:t>RandomizedSearchCV</a:t>
          </a:r>
          <a:r>
            <a:rPr lang="en-US" sz="2100" kern="1200" dirty="0"/>
            <a:t> to explore the global parameter space of the </a:t>
          </a:r>
          <a:r>
            <a:rPr lang="en-US" sz="2100" kern="1200" dirty="0" err="1"/>
            <a:t>CatBoost</a:t>
          </a:r>
          <a:r>
            <a:rPr lang="en-US" sz="2100" kern="1200" dirty="0"/>
            <a:t> model.</a:t>
          </a:r>
        </a:p>
      </dsp:txBody>
      <dsp:txXfrm>
        <a:off x="32418" y="32418"/>
        <a:ext cx="8094307" cy="1041985"/>
      </dsp:txXfrm>
    </dsp:sp>
    <dsp:sp modelId="{0320B8D4-19AF-4AE1-B4E2-75B4925779B8}">
      <dsp:nvSpPr>
        <dsp:cNvPr id="0" name=""/>
        <dsp:cNvSpPr/>
      </dsp:nvSpPr>
      <dsp:spPr>
        <a:xfrm>
          <a:off x="819587" y="1291291"/>
          <a:ext cx="9288654" cy="1106821"/>
        </a:xfrm>
        <a:prstGeom prst="roundRect">
          <a:avLst>
            <a:gd name="adj" fmla="val 10000"/>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Execution: 10 unique candidates were tested across 3-fold cross-validation (30 total fits) to narrow down the most effective ranges for learning rates and tree depth.</a:t>
          </a:r>
        </a:p>
      </dsp:txBody>
      <dsp:txXfrm>
        <a:off x="852005" y="1323709"/>
        <a:ext cx="7684797" cy="1041985"/>
      </dsp:txXfrm>
    </dsp:sp>
    <dsp:sp modelId="{A7732DDB-80E0-4972-9E2D-9C023C34CC77}">
      <dsp:nvSpPr>
        <dsp:cNvPr id="0" name=""/>
        <dsp:cNvSpPr/>
      </dsp:nvSpPr>
      <dsp:spPr>
        <a:xfrm>
          <a:off x="1639174" y="2582583"/>
          <a:ext cx="9288654" cy="1106821"/>
        </a:xfrm>
        <a:prstGeom prst="roundRect">
          <a:avLst>
            <a:gd name="adj" fmla="val 10000"/>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Breakthrough: This phase reduced the Mean Squared Error (MSE) to 0.0213, providing a solid foundation for the final Bayesian optimization.</a:t>
          </a:r>
        </a:p>
      </dsp:txBody>
      <dsp:txXfrm>
        <a:off x="1671592" y="2615001"/>
        <a:ext cx="7684797" cy="1041985"/>
      </dsp:txXfrm>
    </dsp:sp>
    <dsp:sp modelId="{5158718E-F842-4C30-B8E9-BB5E33DE5CBB}">
      <dsp:nvSpPr>
        <dsp:cNvPr id="0" name=""/>
        <dsp:cNvSpPr/>
      </dsp:nvSpPr>
      <dsp:spPr>
        <a:xfrm>
          <a:off x="8569220" y="839339"/>
          <a:ext cx="719433" cy="719433"/>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8731092" y="839339"/>
        <a:ext cx="395689" cy="541373"/>
      </dsp:txXfrm>
    </dsp:sp>
    <dsp:sp modelId="{3406DAC5-B9C6-4129-ADE8-FDCD0EF88A76}">
      <dsp:nvSpPr>
        <dsp:cNvPr id="0" name=""/>
        <dsp:cNvSpPr/>
      </dsp:nvSpPr>
      <dsp:spPr>
        <a:xfrm>
          <a:off x="9388807" y="2123252"/>
          <a:ext cx="719433" cy="719433"/>
        </a:xfrm>
        <a:prstGeom prst="downArrow">
          <a:avLst>
            <a:gd name="adj1" fmla="val 55000"/>
            <a:gd name="adj2" fmla="val 45000"/>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9550679" y="2123252"/>
        <a:ext cx="395689" cy="54137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4E47B9-45E6-480A-9F65-19E9836357CA}">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B059B1-A985-4C7F-A06C-A2D570C6BAD9}">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B94A01-2157-48F7-A43A-530428724286}">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100000"/>
            </a:lnSpc>
            <a:spcBef>
              <a:spcPct val="0"/>
            </a:spcBef>
            <a:spcAft>
              <a:spcPct val="35000"/>
            </a:spcAft>
            <a:buNone/>
          </a:pPr>
          <a:r>
            <a:rPr lang="en-US" sz="1500" kern="1200"/>
            <a:t>The Process: Following the Randomized Search, an automated Optuna study was executed over 30 trials to perform a deep-dive into the model's error surface.</a:t>
          </a:r>
        </a:p>
      </dsp:txBody>
      <dsp:txXfrm>
        <a:off x="1058686" y="1808"/>
        <a:ext cx="9456913" cy="916611"/>
      </dsp:txXfrm>
    </dsp:sp>
    <dsp:sp modelId="{DF88CECE-B5AD-4BC6-B128-517492D7EE8E}">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A7ACF1-1981-4929-BFE7-38D4A492EA07}">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F7CBDE-EF56-4774-9542-37D39AE7B8D6}">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100000"/>
            </a:lnSpc>
            <a:spcBef>
              <a:spcPct val="0"/>
            </a:spcBef>
            <a:spcAft>
              <a:spcPct val="35000"/>
            </a:spcAft>
            <a:buNone/>
          </a:pPr>
          <a:r>
            <a:rPr lang="en-US" sz="1500" kern="1200"/>
            <a:t>MSE Minimization: The study specifically targeted the reduction of Mean Squared Error (MSE). By minimizing the average of the squares of the errors, the model was trained to be highly intolerant of large outliers in risk prediction.</a:t>
          </a:r>
        </a:p>
      </dsp:txBody>
      <dsp:txXfrm>
        <a:off x="1058686" y="1147573"/>
        <a:ext cx="9456913" cy="916611"/>
      </dsp:txXfrm>
    </dsp:sp>
    <dsp:sp modelId="{43AD5931-D5C5-4BE5-BB6F-3DBCA1DE7D44}">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38A505-3E76-4A3C-BF57-49C6C07BBF95}">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8314781-6777-4165-9653-24F21377B9DE}">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100000"/>
            </a:lnSpc>
            <a:spcBef>
              <a:spcPct val="0"/>
            </a:spcBef>
            <a:spcAft>
              <a:spcPct val="35000"/>
            </a:spcAft>
            <a:buNone/>
          </a:pPr>
          <a:r>
            <a:rPr lang="en-US" sz="1500" kern="1200"/>
            <a:t>The Refinement: Unlike the broad Randomized Search, Optuna utilized previous trial data to "zero in" on the parameters that yielded the lowest MSE, ensuring the tightest possible prediction margins.</a:t>
          </a:r>
        </a:p>
      </dsp:txBody>
      <dsp:txXfrm>
        <a:off x="1058686" y="2293338"/>
        <a:ext cx="9456913" cy="916611"/>
      </dsp:txXfrm>
    </dsp:sp>
    <dsp:sp modelId="{BDA354B9-92EE-4FBF-9A17-0924515FA99F}">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45CFC6-0875-4607-94D8-9BE797DC6F1F}">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4B8B7-5338-4F52-829A-05B60C2F5DC8}">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666750">
            <a:lnSpc>
              <a:spcPct val="100000"/>
            </a:lnSpc>
            <a:spcBef>
              <a:spcPct val="0"/>
            </a:spcBef>
            <a:spcAft>
              <a:spcPct val="35000"/>
            </a:spcAft>
            <a:buNone/>
          </a:pPr>
          <a:r>
            <a:rPr lang="en-US" sz="1500" kern="1200"/>
            <a:t>Result: This granular approach achieved a Best MSE of 0.0197, ensuring the model is clinically reliable for individual risk assessment.</a:t>
          </a:r>
        </a:p>
      </dsp:txBody>
      <dsp:txXfrm>
        <a:off x="1058686" y="3439103"/>
        <a:ext cx="9456913" cy="91661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8CB28-1947-4137-82E1-3A878EC4320C}">
      <dsp:nvSpPr>
        <dsp:cNvPr id="0" name=""/>
        <dsp:cNvSpPr/>
      </dsp:nvSpPr>
      <dsp:spPr>
        <a:xfrm>
          <a:off x="3367512" y="0"/>
          <a:ext cx="4192805" cy="4192805"/>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E71339-20EA-4054-A8E3-51EA7F6C6EE3}">
      <dsp:nvSpPr>
        <dsp:cNvPr id="0" name=""/>
        <dsp:cNvSpPr/>
      </dsp:nvSpPr>
      <dsp:spPr>
        <a:xfrm>
          <a:off x="3765828" y="398316"/>
          <a:ext cx="1635193" cy="16351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Early Detection:</a:t>
          </a:r>
          <a:r>
            <a:rPr lang="en-US" sz="1200" kern="1200"/>
            <a:t> Prioritizing patients for CT scans using non-invasive digital markers.</a:t>
          </a:r>
        </a:p>
      </dsp:txBody>
      <dsp:txXfrm>
        <a:off x="3845652" y="478140"/>
        <a:ext cx="1475545" cy="1475545"/>
      </dsp:txXfrm>
    </dsp:sp>
    <dsp:sp modelId="{B44DED59-9315-44D2-92E8-7E4A8A62F8DF}">
      <dsp:nvSpPr>
        <dsp:cNvPr id="0" name=""/>
        <dsp:cNvSpPr/>
      </dsp:nvSpPr>
      <dsp:spPr>
        <a:xfrm>
          <a:off x="5526806" y="398316"/>
          <a:ext cx="1635193" cy="16351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Economic Impact:</a:t>
          </a:r>
          <a:r>
            <a:rPr lang="en-US" sz="1200" kern="1200"/>
            <a:t> Reducing long-term oncology costs by intercepting risk at earlier stages.</a:t>
          </a:r>
        </a:p>
      </dsp:txBody>
      <dsp:txXfrm>
        <a:off x="5606630" y="478140"/>
        <a:ext cx="1475545" cy="1475545"/>
      </dsp:txXfrm>
    </dsp:sp>
    <dsp:sp modelId="{3A70EBE5-136B-4A56-94E2-49AFD4D0C11E}">
      <dsp:nvSpPr>
        <dsp:cNvPr id="0" name=""/>
        <dsp:cNvSpPr/>
      </dsp:nvSpPr>
      <dsp:spPr>
        <a:xfrm>
          <a:off x="3765828" y="2159294"/>
          <a:ext cx="1635193" cy="16351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Policy &amp; Wellness:</a:t>
          </a:r>
          <a:r>
            <a:rPr lang="en-US" sz="1200" kern="1200"/>
            <a:t> Data-driven evidence for targeted anti-smoking and pollution-reduction campaigns.</a:t>
          </a:r>
        </a:p>
      </dsp:txBody>
      <dsp:txXfrm>
        <a:off x="3845652" y="2239118"/>
        <a:ext cx="1475545" cy="1475545"/>
      </dsp:txXfrm>
    </dsp:sp>
    <dsp:sp modelId="{99433A49-E7C6-4A3E-BACD-1AEAEA9751AC}">
      <dsp:nvSpPr>
        <dsp:cNvPr id="0" name=""/>
        <dsp:cNvSpPr/>
      </dsp:nvSpPr>
      <dsp:spPr>
        <a:xfrm>
          <a:off x="5526806" y="2159294"/>
          <a:ext cx="1635193" cy="163519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Future Work:</a:t>
          </a:r>
          <a:r>
            <a:rPr lang="en-US" sz="1200" kern="1200"/>
            <a:t> Scaling the modular EDA-to-Modeling pipeline for other chronic disease datasets.</a:t>
          </a:r>
        </a:p>
      </dsp:txBody>
      <dsp:txXfrm>
        <a:off x="5606630" y="2239118"/>
        <a:ext cx="1475545" cy="147554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300BE-4ACE-9652-875D-49B3FE413F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D66EAA-BD08-468E-50D4-AA540A93EE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93617E7-DAB6-4C22-4516-C0B80D62FC1F}"/>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787E7509-B8FC-C608-88B3-649F4BE61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34CDA-07EF-9A37-E9A0-4FD53A7210F7}"/>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349229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0A33-00DA-CB88-1E93-AD4E012032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E74EFA-0CD5-0ADD-2F18-133DFA426F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CED66C-77FA-B0CD-9307-F3D6C444EA2C}"/>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74B73938-E71A-067A-BF2B-EC7342DFA3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BB0E80-C12F-17B9-538C-904BB3DC6061}"/>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2206296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195C-AE6B-FC50-5E25-BA9E8658A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31C865-6BA2-166E-F396-EC46A57BEF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8C5911-A12D-3E1E-F056-714975C4C953}"/>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BCD15CEC-BE69-9E74-C878-EDCDDBE18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3702E6-A149-8FB1-CD72-84C3867F5157}"/>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1249285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A510D-CE20-C9BE-90E2-766F05DF72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F0E71E-6576-3846-1ACD-2CBBC0E544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983CF2-64BB-2CE6-53BA-48150145E5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AF16A0-EDB6-2E73-8D70-984998EF5C47}"/>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6" name="Footer Placeholder 5">
            <a:extLst>
              <a:ext uri="{FF2B5EF4-FFF2-40B4-BE49-F238E27FC236}">
                <a16:creationId xmlns:a16="http://schemas.microsoft.com/office/drawing/2014/main" id="{069384EF-CB37-B050-8B3D-FEAB661CB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F3A610-14DA-59C9-9488-FA7BE636D94A}"/>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2968782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F4FE2-B93D-DBDD-AD13-535A7E9914B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ACF2B4-90D9-E1E6-5221-FEF1400C4E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014070-9069-1F11-F3F0-990FDD4B53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6C0C16-D2D4-2B08-10F0-1F27CF63E8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79C72F-FFE3-3789-393E-2ECE918A0E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F04296-99E2-458C-57CD-D3238A6D5174}"/>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8" name="Footer Placeholder 7">
            <a:extLst>
              <a:ext uri="{FF2B5EF4-FFF2-40B4-BE49-F238E27FC236}">
                <a16:creationId xmlns:a16="http://schemas.microsoft.com/office/drawing/2014/main" id="{1A7F8262-6FE9-9D29-2DC0-FA8AF7C70F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8F2B81-B905-7D64-28D4-4F38E29EF917}"/>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2881634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24D0-2128-4903-AE17-15584F51A1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5D7698-7A0E-B5A0-E448-F0203F294858}"/>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4" name="Footer Placeholder 3">
            <a:extLst>
              <a:ext uri="{FF2B5EF4-FFF2-40B4-BE49-F238E27FC236}">
                <a16:creationId xmlns:a16="http://schemas.microsoft.com/office/drawing/2014/main" id="{E34969F9-972F-C063-5E4B-D64CA7DC11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02F639-4B94-61AE-0E2A-2CF71A4C9B66}"/>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1759405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9EE214-7A6B-0235-A85A-3FD683B1B004}"/>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3" name="Footer Placeholder 2">
            <a:extLst>
              <a:ext uri="{FF2B5EF4-FFF2-40B4-BE49-F238E27FC236}">
                <a16:creationId xmlns:a16="http://schemas.microsoft.com/office/drawing/2014/main" id="{88EEB816-65C7-D5C9-0896-E1A4F0F81D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227D3A-41C5-D01B-E57C-A43BFB10DC45}"/>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2247025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E4C2A-875B-0C0D-865F-4A494C740A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31E098-391A-C70A-9B82-DEB9AEAEEA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78DC5A-941F-B540-FF9E-164798440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9AF7D8-E232-33EE-C370-A74AE0383FDA}"/>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6" name="Footer Placeholder 5">
            <a:extLst>
              <a:ext uri="{FF2B5EF4-FFF2-40B4-BE49-F238E27FC236}">
                <a16:creationId xmlns:a16="http://schemas.microsoft.com/office/drawing/2014/main" id="{871FC4E7-3862-1997-0AD8-C90EAC6948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5A0FA9-1969-590B-20C3-2C4FA026FF63}"/>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3359824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79FD-D94A-CBDD-EC3B-26E7072AE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6BB8DF-5BFA-4F3E-FA55-FFE28DA0D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091C04-E972-5C57-6719-87A76349F7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B1642B-4712-FEA5-3EE0-717A7171AA88}"/>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6" name="Footer Placeholder 5">
            <a:extLst>
              <a:ext uri="{FF2B5EF4-FFF2-40B4-BE49-F238E27FC236}">
                <a16:creationId xmlns:a16="http://schemas.microsoft.com/office/drawing/2014/main" id="{18314829-FFE9-6605-F4FC-A4C9E90016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001E2B-CCE5-73D5-8EB8-824800A2D466}"/>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130515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44B5B-E34D-F762-52EB-51A4C6B37C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64DB28-BFAF-A592-4B1A-3CDD1DFB84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C5C017-AE7D-76C4-8B7D-4B710364246C}"/>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181A9356-B497-A6C4-B3AC-0639C36EE8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E925A-4921-EBAD-F32E-F66E407F9F85}"/>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1552683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A668BA-F159-C0D2-2EF2-406E83D557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7B6FC4-995D-2897-518B-27E0AA465B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63AB8A-45D3-DD66-7BB4-55106779607D}"/>
              </a:ext>
            </a:extLst>
          </p:cNvPr>
          <p:cNvSpPr>
            <a:spLocks noGrp="1"/>
          </p:cNvSpPr>
          <p:nvPr>
            <p:ph type="dt" sz="half" idx="10"/>
          </p:nvPr>
        </p:nvSpPr>
        <p:spPr/>
        <p:txBody>
          <a:body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24BF5195-C86C-7BFF-3F2A-CD281F2EEF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38830-8F08-407A-2FE5-294DDECA36CB}"/>
              </a:ext>
            </a:extLst>
          </p:cNvPr>
          <p:cNvSpPr>
            <a:spLocks noGrp="1"/>
          </p:cNvSpPr>
          <p:nvPr>
            <p:ph type="sldNum" sz="quarter" idx="12"/>
          </p:nvPr>
        </p:nvSpPr>
        <p:spPr/>
        <p:txBody>
          <a:bodyPr/>
          <a:lstStyle/>
          <a:p>
            <a:fld id="{642C0A45-33D5-4EE5-BB5D-12D6B155BC40}" type="slidenum">
              <a:rPr lang="en-US" smtClean="0"/>
              <a:t>‹#›</a:t>
            </a:fld>
            <a:endParaRPr lang="en-US"/>
          </a:p>
        </p:txBody>
      </p:sp>
    </p:spTree>
    <p:extLst>
      <p:ext uri="{BB962C8B-B14F-4D97-AF65-F5344CB8AC3E}">
        <p14:creationId xmlns:p14="http://schemas.microsoft.com/office/powerpoint/2010/main" val="251674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3EC24D-FBF6-E42D-8EFF-5165546DFB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D0B319-2313-69CB-8173-0C1FE0ECD2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815D80-40C2-0CCC-1CD0-5EEFF3AC8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26B6EB-B001-41FE-9FC0-1103B662A7ED}" type="datetimeFigureOut">
              <a:rPr lang="en-US" smtClean="0"/>
              <a:t>1/15/2026</a:t>
            </a:fld>
            <a:endParaRPr lang="en-US"/>
          </a:p>
        </p:txBody>
      </p:sp>
      <p:sp>
        <p:nvSpPr>
          <p:cNvPr id="5" name="Footer Placeholder 4">
            <a:extLst>
              <a:ext uri="{FF2B5EF4-FFF2-40B4-BE49-F238E27FC236}">
                <a16:creationId xmlns:a16="http://schemas.microsoft.com/office/drawing/2014/main" id="{DC6B533E-EBA7-03E5-236D-1CC107D218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E6368E-494B-090B-E187-1A0016CD5E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2C0A45-33D5-4EE5-BB5D-12D6B155BC40}" type="slidenum">
              <a:rPr lang="en-US" smtClean="0"/>
              <a:t>‹#›</a:t>
            </a:fld>
            <a:endParaRPr lang="en-US"/>
          </a:p>
        </p:txBody>
      </p:sp>
    </p:spTree>
    <p:extLst>
      <p:ext uri="{BB962C8B-B14F-4D97-AF65-F5344CB8AC3E}">
        <p14:creationId xmlns:p14="http://schemas.microsoft.com/office/powerpoint/2010/main" val="3649906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60DB65-46CE-1EFC-621C-9E5C05243DE8}"/>
              </a:ext>
            </a:extLst>
          </p:cNvPr>
          <p:cNvSpPr>
            <a:spLocks noGrp="1"/>
          </p:cNvSpPr>
          <p:nvPr>
            <p:ph type="title"/>
          </p:nvPr>
        </p:nvSpPr>
        <p:spPr>
          <a:xfrm>
            <a:off x="841248" y="256032"/>
            <a:ext cx="10506456" cy="1014984"/>
          </a:xfrm>
        </p:spPr>
        <p:txBody>
          <a:bodyPr anchor="b">
            <a:normAutofit/>
          </a:bodyPr>
          <a:lstStyle/>
          <a:p>
            <a:r>
              <a:rPr lang="en-US" sz="3400" b="1"/>
              <a:t>Predictive Analytics for Lung Cancer Risk Assessment</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616B132-FC4E-3017-A181-FEC6EB00FC9F}"/>
              </a:ext>
            </a:extLst>
          </p:cNvPr>
          <p:cNvGraphicFramePr>
            <a:graphicFrameLocks noGrp="1"/>
          </p:cNvGraphicFramePr>
          <p:nvPr>
            <p:ph idx="1"/>
            <p:extLst>
              <p:ext uri="{D42A27DB-BD31-4B8C-83A1-F6EECF244321}">
                <p14:modId xmlns:p14="http://schemas.microsoft.com/office/powerpoint/2010/main" val="228353500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1538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CAFAB3-5E95-3950-87FC-339CCAECE6BF}"/>
              </a:ext>
            </a:extLst>
          </p:cNvPr>
          <p:cNvSpPr>
            <a:spLocks noGrp="1"/>
          </p:cNvSpPr>
          <p:nvPr>
            <p:ph type="title"/>
          </p:nvPr>
        </p:nvSpPr>
        <p:spPr>
          <a:xfrm>
            <a:off x="586478" y="1683756"/>
            <a:ext cx="3115265" cy="2396359"/>
          </a:xfrm>
        </p:spPr>
        <p:txBody>
          <a:bodyPr anchor="b">
            <a:normAutofit/>
          </a:bodyPr>
          <a:lstStyle/>
          <a:p>
            <a:pPr algn="r"/>
            <a:r>
              <a:rPr lang="en-US" sz="4000" b="1">
                <a:solidFill>
                  <a:srgbClr val="FFFFFF"/>
                </a:solidFill>
              </a:rPr>
              <a:t>Data Preparation and Methodology</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D9316370-1EDB-BF2B-2ACD-85A75AF28198}"/>
              </a:ext>
            </a:extLst>
          </p:cNvPr>
          <p:cNvGraphicFramePr>
            <a:graphicFrameLocks noGrp="1"/>
          </p:cNvGraphicFramePr>
          <p:nvPr>
            <p:ph idx="1"/>
            <p:extLst>
              <p:ext uri="{D42A27DB-BD31-4B8C-83A1-F6EECF244321}">
                <p14:modId xmlns:p14="http://schemas.microsoft.com/office/powerpoint/2010/main" val="83506172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4239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A0A7A9C-C646-A96A-B3F0-2C07CE946321}"/>
              </a:ext>
            </a:extLst>
          </p:cNvPr>
          <p:cNvSpPr>
            <a:spLocks noGrp="1"/>
          </p:cNvSpPr>
          <p:nvPr>
            <p:ph type="title"/>
          </p:nvPr>
        </p:nvSpPr>
        <p:spPr>
          <a:xfrm>
            <a:off x="1137034" y="609600"/>
            <a:ext cx="4784796" cy="1330840"/>
          </a:xfrm>
        </p:spPr>
        <p:txBody>
          <a:bodyPr>
            <a:normAutofit/>
          </a:bodyPr>
          <a:lstStyle/>
          <a:p>
            <a:r>
              <a:rPr lang="en-US" sz="4100" b="1"/>
              <a:t>Exploratory Data Analysis (Numerical</a:t>
            </a:r>
          </a:p>
        </p:txBody>
      </p:sp>
      <p:graphicFrame>
        <p:nvGraphicFramePr>
          <p:cNvPr id="16" name="Content Placeholder 2">
            <a:extLst>
              <a:ext uri="{FF2B5EF4-FFF2-40B4-BE49-F238E27FC236}">
                <a16:creationId xmlns:a16="http://schemas.microsoft.com/office/drawing/2014/main" id="{2854B59E-B881-63CC-9690-989AFBDFB160}"/>
              </a:ext>
            </a:extLst>
          </p:cNvPr>
          <p:cNvGraphicFramePr>
            <a:graphicFrameLocks noGrp="1"/>
          </p:cNvGraphicFramePr>
          <p:nvPr>
            <p:ph idx="1"/>
          </p:nvPr>
        </p:nvGraphicFramePr>
        <p:xfrm>
          <a:off x="1137034" y="2194102"/>
          <a:ext cx="4438036" cy="39085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a:extLst>
              <a:ext uri="{FF2B5EF4-FFF2-40B4-BE49-F238E27FC236}">
                <a16:creationId xmlns:a16="http://schemas.microsoft.com/office/drawing/2014/main" id="{CF1091A6-24B3-3DB9-0423-740085D54D5D}"/>
              </a:ext>
            </a:extLst>
          </p:cNvPr>
          <p:cNvGraphicFramePr>
            <a:graphicFrameLocks noGrp="1"/>
          </p:cNvGraphicFramePr>
          <p:nvPr>
            <p:extLst>
              <p:ext uri="{D42A27DB-BD31-4B8C-83A1-F6EECF244321}">
                <p14:modId xmlns:p14="http://schemas.microsoft.com/office/powerpoint/2010/main" val="1834734597"/>
              </p:ext>
            </p:extLst>
          </p:nvPr>
        </p:nvGraphicFramePr>
        <p:xfrm>
          <a:off x="6712105" y="1940440"/>
          <a:ext cx="5074666" cy="2999335"/>
        </p:xfrm>
        <a:graphic>
          <a:graphicData uri="http://schemas.openxmlformats.org/drawingml/2006/table">
            <a:tbl>
              <a:tblPr/>
              <a:tblGrid>
                <a:gridCol w="1247200">
                  <a:extLst>
                    <a:ext uri="{9D8B030D-6E8A-4147-A177-3AD203B41FA5}">
                      <a16:colId xmlns:a16="http://schemas.microsoft.com/office/drawing/2014/main" val="1953241080"/>
                    </a:ext>
                  </a:extLst>
                </a:gridCol>
                <a:gridCol w="498005">
                  <a:extLst>
                    <a:ext uri="{9D8B030D-6E8A-4147-A177-3AD203B41FA5}">
                      <a16:colId xmlns:a16="http://schemas.microsoft.com/office/drawing/2014/main" val="3305687071"/>
                    </a:ext>
                  </a:extLst>
                </a:gridCol>
                <a:gridCol w="484536">
                  <a:extLst>
                    <a:ext uri="{9D8B030D-6E8A-4147-A177-3AD203B41FA5}">
                      <a16:colId xmlns:a16="http://schemas.microsoft.com/office/drawing/2014/main" val="2260540388"/>
                    </a:ext>
                  </a:extLst>
                </a:gridCol>
                <a:gridCol w="602388">
                  <a:extLst>
                    <a:ext uri="{9D8B030D-6E8A-4147-A177-3AD203B41FA5}">
                      <a16:colId xmlns:a16="http://schemas.microsoft.com/office/drawing/2014/main" val="1549598252"/>
                    </a:ext>
                  </a:extLst>
                </a:gridCol>
                <a:gridCol w="375103">
                  <a:extLst>
                    <a:ext uri="{9D8B030D-6E8A-4147-A177-3AD203B41FA5}">
                      <a16:colId xmlns:a16="http://schemas.microsoft.com/office/drawing/2014/main" val="361823577"/>
                    </a:ext>
                  </a:extLst>
                </a:gridCol>
                <a:gridCol w="388572">
                  <a:extLst>
                    <a:ext uri="{9D8B030D-6E8A-4147-A177-3AD203B41FA5}">
                      <a16:colId xmlns:a16="http://schemas.microsoft.com/office/drawing/2014/main" val="4283445329"/>
                    </a:ext>
                  </a:extLst>
                </a:gridCol>
                <a:gridCol w="691617">
                  <a:extLst>
                    <a:ext uri="{9D8B030D-6E8A-4147-A177-3AD203B41FA5}">
                      <a16:colId xmlns:a16="http://schemas.microsoft.com/office/drawing/2014/main" val="3182443787"/>
                    </a:ext>
                  </a:extLst>
                </a:gridCol>
                <a:gridCol w="388572">
                  <a:extLst>
                    <a:ext uri="{9D8B030D-6E8A-4147-A177-3AD203B41FA5}">
                      <a16:colId xmlns:a16="http://schemas.microsoft.com/office/drawing/2014/main" val="2357424815"/>
                    </a:ext>
                  </a:extLst>
                </a:gridCol>
                <a:gridCol w="398673">
                  <a:extLst>
                    <a:ext uri="{9D8B030D-6E8A-4147-A177-3AD203B41FA5}">
                      <a16:colId xmlns:a16="http://schemas.microsoft.com/office/drawing/2014/main" val="2663707333"/>
                    </a:ext>
                  </a:extLst>
                </a:gridCol>
              </a:tblGrid>
              <a:tr h="511310">
                <a:tc gridSpan="9">
                  <a:txBody>
                    <a:bodyPr/>
                    <a:lstStyle/>
                    <a:p>
                      <a:pPr algn="ctr" fontAlgn="b">
                        <a:buNone/>
                      </a:pPr>
                      <a:r>
                        <a:rPr lang="en-US" sz="1100" b="1" i="0" u="none" strike="noStrike">
                          <a:solidFill>
                            <a:srgbClr val="000000"/>
                          </a:solidFill>
                          <a:effectLst/>
                          <a:latin typeface="Calibri" panose="020F0502020204030204" pitchFamily="34" charset="0"/>
                        </a:rPr>
                        <a:t>Numerical Feature Statistics</a:t>
                      </a:r>
                      <a:endParaRPr lang="en-US" sz="1800" b="0" i="0" u="none" strike="noStrike">
                        <a:effectLst/>
                        <a:latin typeface="Arial" panose="020B0604020202020204" pitchFamily="34" charset="0"/>
                      </a:endParaRPr>
                    </a:p>
                  </a:txBody>
                  <a:tcPr marL="90534" marR="90534" marT="45267" marB="45267">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22252029"/>
                  </a:ext>
                </a:extLst>
              </a:tr>
              <a:tr h="656270">
                <a:tc>
                  <a:txBody>
                    <a:bodyPr/>
                    <a:lstStyle/>
                    <a:p>
                      <a:pPr algn="ctr" fontAlgn="b">
                        <a:buNone/>
                      </a:pPr>
                      <a:r>
                        <a:rPr lang="en-US" sz="1100" b="1" i="0" u="none" strike="noStrike">
                          <a:solidFill>
                            <a:srgbClr val="000000"/>
                          </a:solidFill>
                          <a:effectLst/>
                          <a:latin typeface="Calibri" panose="020F0502020204030204" pitchFamily="34" charset="0"/>
                        </a:rPr>
                        <a:t>Feature</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Count</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Mean</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Std Dev</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Min</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25%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50% (Median)</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75%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1" i="0" u="none" strike="noStrike">
                          <a:solidFill>
                            <a:srgbClr val="000000"/>
                          </a:solidFill>
                          <a:effectLst/>
                          <a:latin typeface="Calibri" panose="020F0502020204030204" pitchFamily="34" charset="0"/>
                        </a:rPr>
                        <a:t>Max</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extLst>
                  <a:ext uri="{0D108BD9-81ED-4DB2-BD59-A6C34878D82A}">
                    <a16:rowId xmlns:a16="http://schemas.microsoft.com/office/drawing/2014/main" val="2077823261"/>
                  </a:ext>
                </a:extLst>
              </a:tr>
              <a:tr h="366351">
                <a:tc>
                  <a:txBody>
                    <a:bodyPr/>
                    <a:lstStyle/>
                    <a:p>
                      <a:pPr algn="ctr" fontAlgn="b">
                        <a:buNone/>
                      </a:pPr>
                      <a:r>
                        <a:rPr lang="en-US" sz="1100" b="0" i="0" u="none" strike="noStrike">
                          <a:solidFill>
                            <a:srgbClr val="000000"/>
                          </a:solidFill>
                          <a:effectLst/>
                          <a:latin typeface="Calibri" panose="020F0502020204030204" pitchFamily="34" charset="0"/>
                        </a:rPr>
                        <a:t>age</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0" i="0" u="none" strike="noStrike">
                          <a:solidFill>
                            <a:srgbClr val="000000"/>
                          </a:solidFill>
                          <a:effectLst/>
                          <a:latin typeface="Calibri" panose="020F0502020204030204" pitchFamily="34" charset="0"/>
                        </a:rPr>
                        <a:t>5000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63BE7B"/>
                    </a:solidFill>
                  </a:tcPr>
                </a:tc>
                <a:tc>
                  <a:txBody>
                    <a:bodyPr/>
                    <a:lstStyle/>
                    <a:p>
                      <a:pPr algn="ctr" fontAlgn="b">
                        <a:buNone/>
                      </a:pPr>
                      <a:r>
                        <a:rPr lang="en-US" sz="1100" b="0" i="0" u="none" strike="noStrike">
                          <a:solidFill>
                            <a:srgbClr val="000000"/>
                          </a:solidFill>
                          <a:effectLst/>
                          <a:latin typeface="Calibri" panose="020F0502020204030204" pitchFamily="34" charset="0"/>
                        </a:rPr>
                        <a:t>54.57</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EEB84"/>
                    </a:solidFill>
                  </a:tcPr>
                </a:tc>
                <a:tc>
                  <a:txBody>
                    <a:bodyPr/>
                    <a:lstStyle/>
                    <a:p>
                      <a:pPr algn="ctr" fontAlgn="b">
                        <a:buNone/>
                      </a:pPr>
                      <a:r>
                        <a:rPr lang="en-US" sz="1100" b="0" i="0" u="none" strike="noStrike">
                          <a:solidFill>
                            <a:srgbClr val="000000"/>
                          </a:solidFill>
                          <a:effectLst/>
                          <a:latin typeface="Calibri" panose="020F0502020204030204" pitchFamily="34" charset="0"/>
                        </a:rPr>
                        <a:t>11.93</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CBF7B"/>
                    </a:solidFill>
                  </a:tcPr>
                </a:tc>
                <a:tc>
                  <a:txBody>
                    <a:bodyPr/>
                    <a:lstStyle/>
                    <a:p>
                      <a:pPr algn="ctr" fontAlgn="b">
                        <a:buNone/>
                      </a:pPr>
                      <a:r>
                        <a:rPr lang="en-US" sz="1100" b="0" i="0" u="none" strike="noStrike">
                          <a:solidFill>
                            <a:srgbClr val="000000"/>
                          </a:solidFill>
                          <a:effectLst/>
                          <a:latin typeface="Calibri" panose="020F0502020204030204" pitchFamily="34" charset="0"/>
                        </a:rPr>
                        <a:t>18</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FEB84"/>
                    </a:solidFill>
                  </a:tcPr>
                </a:tc>
                <a:tc>
                  <a:txBody>
                    <a:bodyPr/>
                    <a:lstStyle/>
                    <a:p>
                      <a:pPr algn="ctr" fontAlgn="b">
                        <a:buNone/>
                      </a:pPr>
                      <a:r>
                        <a:rPr lang="en-US" sz="1100" b="0" i="0" u="none" strike="noStrike">
                          <a:solidFill>
                            <a:srgbClr val="000000"/>
                          </a:solidFill>
                          <a:effectLst/>
                          <a:latin typeface="Calibri" panose="020F0502020204030204" pitchFamily="34" charset="0"/>
                        </a:rPr>
                        <a:t>47</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FEB84"/>
                    </a:solidFill>
                  </a:tcPr>
                </a:tc>
                <a:tc>
                  <a:txBody>
                    <a:bodyPr/>
                    <a:lstStyle/>
                    <a:p>
                      <a:pPr algn="ctr" fontAlgn="b">
                        <a:buNone/>
                      </a:pPr>
                      <a:r>
                        <a:rPr lang="en-US" sz="1100" b="0" i="0" u="none" strike="noStrike">
                          <a:solidFill>
                            <a:srgbClr val="000000"/>
                          </a:solidFill>
                          <a:effectLst/>
                          <a:latin typeface="Calibri" panose="020F0502020204030204" pitchFamily="34" charset="0"/>
                        </a:rPr>
                        <a:t>55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EEB84"/>
                    </a:solidFill>
                  </a:tcPr>
                </a:tc>
                <a:tc>
                  <a:txBody>
                    <a:bodyPr/>
                    <a:lstStyle/>
                    <a:p>
                      <a:pPr algn="ctr" fontAlgn="b">
                        <a:buNone/>
                      </a:pPr>
                      <a:r>
                        <a:rPr lang="en-US" sz="1100" b="0" i="0" u="none" strike="noStrike">
                          <a:solidFill>
                            <a:srgbClr val="000000"/>
                          </a:solidFill>
                          <a:effectLst/>
                          <a:latin typeface="Calibri" panose="020F0502020204030204" pitchFamily="34" charset="0"/>
                        </a:rPr>
                        <a:t>62</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EEB84"/>
                    </a:solidFill>
                  </a:tcPr>
                </a:tc>
                <a:tc>
                  <a:txBody>
                    <a:bodyPr/>
                    <a:lstStyle/>
                    <a:p>
                      <a:pPr algn="ctr" fontAlgn="b">
                        <a:buNone/>
                      </a:pPr>
                      <a:r>
                        <a:rPr lang="en-US" sz="1100" b="0" i="0" u="none" strike="noStrike">
                          <a:solidFill>
                            <a:srgbClr val="000000"/>
                          </a:solidFill>
                          <a:effectLst/>
                          <a:latin typeface="Calibri" panose="020F0502020204030204" pitchFamily="34" charset="0"/>
                        </a:rPr>
                        <a:t>90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extLst>
                  <a:ext uri="{0D108BD9-81ED-4DB2-BD59-A6C34878D82A}">
                    <a16:rowId xmlns:a16="http://schemas.microsoft.com/office/drawing/2014/main" val="2430511829"/>
                  </a:ext>
                </a:extLst>
              </a:tr>
              <a:tr h="366351">
                <a:tc>
                  <a:txBody>
                    <a:bodyPr/>
                    <a:lstStyle/>
                    <a:p>
                      <a:pPr algn="ctr" fontAlgn="b">
                        <a:buNone/>
                      </a:pPr>
                      <a:r>
                        <a:rPr lang="en-US" sz="1100" b="0" i="0" u="none" strike="noStrike">
                          <a:solidFill>
                            <a:srgbClr val="000000"/>
                          </a:solidFill>
                          <a:effectLst/>
                          <a:latin typeface="Calibri" panose="020F0502020204030204" pitchFamily="34" charset="0"/>
                        </a:rPr>
                        <a:t>smoking_years</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0" i="0" u="none" strike="noStrike">
                          <a:solidFill>
                            <a:srgbClr val="000000"/>
                          </a:solidFill>
                          <a:effectLst/>
                          <a:latin typeface="Calibri" panose="020F0502020204030204" pitchFamily="34" charset="0"/>
                        </a:rPr>
                        <a:t>5000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63BE7B"/>
                    </a:solidFill>
                  </a:tcPr>
                </a:tc>
                <a:tc>
                  <a:txBody>
                    <a:bodyPr/>
                    <a:lstStyle/>
                    <a:p>
                      <a:pPr algn="ctr" fontAlgn="b">
                        <a:buNone/>
                      </a:pPr>
                      <a:r>
                        <a:rPr lang="en-US" sz="1100" b="0" i="0" u="none" strike="noStrike">
                          <a:solidFill>
                            <a:srgbClr val="000000"/>
                          </a:solidFill>
                          <a:effectLst/>
                          <a:latin typeface="Calibri" panose="020F0502020204030204" pitchFamily="34" charset="0"/>
                        </a:rPr>
                        <a:t>8.82</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BA877"/>
                    </a:solidFill>
                  </a:tcPr>
                </a:tc>
                <a:tc>
                  <a:txBody>
                    <a:bodyPr/>
                    <a:lstStyle/>
                    <a:p>
                      <a:pPr algn="ctr" fontAlgn="b">
                        <a:buNone/>
                      </a:pPr>
                      <a:r>
                        <a:rPr lang="en-US" sz="1100" b="0" i="0" u="none" strike="noStrike">
                          <a:solidFill>
                            <a:srgbClr val="000000"/>
                          </a:solidFill>
                          <a:effectLst/>
                          <a:latin typeface="Calibri" panose="020F0502020204030204" pitchFamily="34" charset="0"/>
                        </a:rPr>
                        <a:t>11.65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CBD7B"/>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18</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FEB84"/>
                    </a:solidFill>
                  </a:tcPr>
                </a:tc>
                <a:tc>
                  <a:txBody>
                    <a:bodyPr/>
                    <a:lstStyle/>
                    <a:p>
                      <a:pPr algn="ctr" fontAlgn="b">
                        <a:buNone/>
                      </a:pPr>
                      <a:r>
                        <a:rPr lang="en-US" sz="1100" b="0" i="0" u="none" strike="noStrike">
                          <a:solidFill>
                            <a:srgbClr val="000000"/>
                          </a:solidFill>
                          <a:effectLst/>
                          <a:latin typeface="Calibri" panose="020F0502020204030204" pitchFamily="34" charset="0"/>
                        </a:rPr>
                        <a:t>52</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EEB84"/>
                    </a:solidFill>
                  </a:tcPr>
                </a:tc>
                <a:extLst>
                  <a:ext uri="{0D108BD9-81ED-4DB2-BD59-A6C34878D82A}">
                    <a16:rowId xmlns:a16="http://schemas.microsoft.com/office/drawing/2014/main" val="2260271857"/>
                  </a:ext>
                </a:extLst>
              </a:tr>
              <a:tr h="366351">
                <a:tc>
                  <a:txBody>
                    <a:bodyPr/>
                    <a:lstStyle/>
                    <a:p>
                      <a:pPr algn="ctr" fontAlgn="b">
                        <a:buNone/>
                      </a:pPr>
                      <a:r>
                        <a:rPr lang="en-US" sz="1100" b="0" i="0" u="none" strike="noStrike">
                          <a:solidFill>
                            <a:srgbClr val="000000"/>
                          </a:solidFill>
                          <a:effectLst/>
                          <a:latin typeface="Calibri" panose="020F0502020204030204" pitchFamily="34" charset="0"/>
                        </a:rPr>
                        <a:t>pack_years</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0" i="0" u="none" strike="noStrike">
                          <a:solidFill>
                            <a:srgbClr val="000000"/>
                          </a:solidFill>
                          <a:effectLst/>
                          <a:latin typeface="Calibri" panose="020F0502020204030204" pitchFamily="34" charset="0"/>
                        </a:rPr>
                        <a:t>5000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63BE7B"/>
                    </a:solidFill>
                  </a:tcPr>
                </a:tc>
                <a:tc>
                  <a:txBody>
                    <a:bodyPr/>
                    <a:lstStyle/>
                    <a:p>
                      <a:pPr algn="ctr" fontAlgn="b">
                        <a:buNone/>
                      </a:pPr>
                      <a:r>
                        <a:rPr lang="en-US" sz="1100" b="0" i="0" u="none" strike="noStrike">
                          <a:solidFill>
                            <a:srgbClr val="000000"/>
                          </a:solidFill>
                          <a:effectLst/>
                          <a:latin typeface="Calibri" panose="020F0502020204030204" pitchFamily="34" charset="0"/>
                        </a:rPr>
                        <a:t>6.25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A9673"/>
                    </a:solidFill>
                  </a:tcPr>
                </a:tc>
                <a:tc>
                  <a:txBody>
                    <a:bodyPr/>
                    <a:lstStyle/>
                    <a:p>
                      <a:pPr algn="ctr" fontAlgn="b">
                        <a:buNone/>
                      </a:pPr>
                      <a:r>
                        <a:rPr lang="en-US" sz="1100" b="0" i="0" u="none" strike="noStrike">
                          <a:solidFill>
                            <a:srgbClr val="000000"/>
                          </a:solidFill>
                          <a:effectLst/>
                          <a:latin typeface="Calibri" panose="020F0502020204030204" pitchFamily="34" charset="0"/>
                        </a:rPr>
                        <a:t>9.96</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BB078"/>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10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BB178"/>
                    </a:solidFill>
                  </a:tcPr>
                </a:tc>
                <a:tc>
                  <a:txBody>
                    <a:bodyPr/>
                    <a:lstStyle/>
                    <a:p>
                      <a:pPr algn="ctr" fontAlgn="b">
                        <a:buNone/>
                      </a:pPr>
                      <a:r>
                        <a:rPr lang="en-US" sz="1100" b="0" i="0" u="none" strike="noStrike">
                          <a:solidFill>
                            <a:srgbClr val="000000"/>
                          </a:solidFill>
                          <a:effectLst/>
                          <a:latin typeface="Calibri" panose="020F0502020204030204" pitchFamily="34" charset="0"/>
                        </a:rPr>
                        <a:t>60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EEB84"/>
                    </a:solidFill>
                  </a:tcPr>
                </a:tc>
                <a:extLst>
                  <a:ext uri="{0D108BD9-81ED-4DB2-BD59-A6C34878D82A}">
                    <a16:rowId xmlns:a16="http://schemas.microsoft.com/office/drawing/2014/main" val="3290848755"/>
                  </a:ext>
                </a:extLst>
              </a:tr>
              <a:tr h="366351">
                <a:tc>
                  <a:txBody>
                    <a:bodyPr/>
                    <a:lstStyle/>
                    <a:p>
                      <a:pPr algn="ctr" fontAlgn="b">
                        <a:buNone/>
                      </a:pPr>
                      <a:r>
                        <a:rPr lang="en-US" sz="1100" b="0" i="0" u="none" strike="noStrike">
                          <a:solidFill>
                            <a:srgbClr val="000000"/>
                          </a:solidFill>
                          <a:effectLst/>
                          <a:latin typeface="Calibri" panose="020F0502020204030204" pitchFamily="34" charset="0"/>
                        </a:rPr>
                        <a:t>oxygen_saturation</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0" i="0" u="none" strike="noStrike">
                          <a:solidFill>
                            <a:srgbClr val="000000"/>
                          </a:solidFill>
                          <a:effectLst/>
                          <a:latin typeface="Calibri" panose="020F0502020204030204" pitchFamily="34" charset="0"/>
                        </a:rPr>
                        <a:t>5000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63BE7B"/>
                    </a:solidFill>
                  </a:tcPr>
                </a:tc>
                <a:tc>
                  <a:txBody>
                    <a:bodyPr/>
                    <a:lstStyle/>
                    <a:p>
                      <a:pPr algn="ctr" fontAlgn="b">
                        <a:buNone/>
                      </a:pPr>
                      <a:r>
                        <a:rPr lang="en-US" sz="1100" b="0" i="0" u="none" strike="noStrike">
                          <a:solidFill>
                            <a:srgbClr val="000000"/>
                          </a:solidFill>
                          <a:effectLst/>
                          <a:latin typeface="Calibri" panose="020F0502020204030204" pitchFamily="34" charset="0"/>
                        </a:rPr>
                        <a:t>96.09</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tc>
                  <a:txBody>
                    <a:bodyPr/>
                    <a:lstStyle/>
                    <a:p>
                      <a:pPr algn="ctr" fontAlgn="b">
                        <a:buNone/>
                      </a:pPr>
                      <a:r>
                        <a:rPr lang="en-US" sz="1100" b="0" i="0" u="none" strike="noStrike">
                          <a:solidFill>
                            <a:srgbClr val="000000"/>
                          </a:solidFill>
                          <a:effectLst/>
                          <a:latin typeface="Calibri" panose="020F0502020204030204" pitchFamily="34" charset="0"/>
                        </a:rPr>
                        <a:t>3.41</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9816F"/>
                    </a:solidFill>
                  </a:tcPr>
                </a:tc>
                <a:tc>
                  <a:txBody>
                    <a:bodyPr/>
                    <a:lstStyle/>
                    <a:p>
                      <a:pPr algn="ctr" fontAlgn="b">
                        <a:buNone/>
                      </a:pPr>
                      <a:r>
                        <a:rPr lang="en-US" sz="1100" b="0" i="0" u="none" strike="noStrike">
                          <a:solidFill>
                            <a:srgbClr val="000000"/>
                          </a:solidFill>
                          <a:effectLst/>
                          <a:latin typeface="Calibri" panose="020F0502020204030204" pitchFamily="34" charset="0"/>
                        </a:rPr>
                        <a:t>85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tc>
                  <a:txBody>
                    <a:bodyPr/>
                    <a:lstStyle/>
                    <a:p>
                      <a:pPr algn="ctr" fontAlgn="b">
                        <a:buNone/>
                      </a:pPr>
                      <a:r>
                        <a:rPr lang="en-US" sz="1100" b="0" i="0" u="none" strike="noStrike">
                          <a:solidFill>
                            <a:srgbClr val="000000"/>
                          </a:solidFill>
                          <a:effectLst/>
                          <a:latin typeface="Calibri" panose="020F0502020204030204" pitchFamily="34" charset="0"/>
                        </a:rPr>
                        <a:t>95</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tc>
                  <a:txBody>
                    <a:bodyPr/>
                    <a:lstStyle/>
                    <a:p>
                      <a:pPr algn="ctr" fontAlgn="b">
                        <a:buNone/>
                      </a:pPr>
                      <a:r>
                        <a:rPr lang="en-US" sz="1100" b="0" i="0" u="none" strike="noStrike">
                          <a:solidFill>
                            <a:srgbClr val="000000"/>
                          </a:solidFill>
                          <a:effectLst/>
                          <a:latin typeface="Calibri" panose="020F0502020204030204" pitchFamily="34" charset="0"/>
                        </a:rPr>
                        <a:t>97</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tc>
                  <a:txBody>
                    <a:bodyPr/>
                    <a:lstStyle/>
                    <a:p>
                      <a:pPr algn="ctr" fontAlgn="b">
                        <a:buNone/>
                      </a:pPr>
                      <a:r>
                        <a:rPr lang="en-US" sz="1100" b="0" i="0" u="none" strike="noStrike">
                          <a:solidFill>
                            <a:srgbClr val="000000"/>
                          </a:solidFill>
                          <a:effectLst/>
                          <a:latin typeface="Calibri" panose="020F0502020204030204" pitchFamily="34" charset="0"/>
                        </a:rPr>
                        <a:t>99</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tc>
                  <a:txBody>
                    <a:bodyPr/>
                    <a:lstStyle/>
                    <a:p>
                      <a:pPr algn="ctr" fontAlgn="b">
                        <a:buNone/>
                      </a:pPr>
                      <a:r>
                        <a:rPr lang="en-US" sz="1100" b="0" i="0" u="none" strike="noStrike">
                          <a:solidFill>
                            <a:srgbClr val="000000"/>
                          </a:solidFill>
                          <a:effectLst/>
                          <a:latin typeface="Calibri" panose="020F0502020204030204" pitchFamily="34" charset="0"/>
                        </a:rPr>
                        <a:t>100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DEB84"/>
                    </a:solidFill>
                  </a:tcPr>
                </a:tc>
                <a:extLst>
                  <a:ext uri="{0D108BD9-81ED-4DB2-BD59-A6C34878D82A}">
                    <a16:rowId xmlns:a16="http://schemas.microsoft.com/office/drawing/2014/main" val="1919510099"/>
                  </a:ext>
                </a:extLst>
              </a:tr>
              <a:tr h="366351">
                <a:tc>
                  <a:txBody>
                    <a:bodyPr/>
                    <a:lstStyle/>
                    <a:p>
                      <a:pPr algn="ctr" fontAlgn="b">
                        <a:buNone/>
                      </a:pPr>
                      <a:r>
                        <a:rPr lang="en-US" sz="1100" b="0" i="0" u="none" strike="noStrike">
                          <a:solidFill>
                            <a:srgbClr val="000000"/>
                          </a:solidFill>
                          <a:effectLst/>
                          <a:latin typeface="Calibri" panose="020F0502020204030204" pitchFamily="34" charset="0"/>
                        </a:rPr>
                        <a:t>crp_level</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noFill/>
                  </a:tcPr>
                </a:tc>
                <a:tc>
                  <a:txBody>
                    <a:bodyPr/>
                    <a:lstStyle/>
                    <a:p>
                      <a:pPr algn="ctr" fontAlgn="b">
                        <a:buNone/>
                      </a:pPr>
                      <a:r>
                        <a:rPr lang="en-US" sz="1100" b="0" i="0" u="none" strike="noStrike">
                          <a:solidFill>
                            <a:srgbClr val="000000"/>
                          </a:solidFill>
                          <a:effectLst/>
                          <a:latin typeface="Calibri" panose="020F0502020204030204" pitchFamily="34" charset="0"/>
                        </a:rPr>
                        <a:t>5000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63BE7B"/>
                    </a:solidFill>
                  </a:tcPr>
                </a:tc>
                <a:tc>
                  <a:txBody>
                    <a:bodyPr/>
                    <a:lstStyle/>
                    <a:p>
                      <a:pPr algn="ctr" fontAlgn="b">
                        <a:buNone/>
                      </a:pPr>
                      <a:r>
                        <a:rPr lang="en-US" sz="1100" b="0" i="0" u="none" strike="noStrike">
                          <a:solidFill>
                            <a:srgbClr val="000000"/>
                          </a:solidFill>
                          <a:effectLst/>
                          <a:latin typeface="Calibri" panose="020F0502020204030204" pitchFamily="34" charset="0"/>
                        </a:rPr>
                        <a:t>4.59</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98A71"/>
                    </a:solidFill>
                  </a:tcPr>
                </a:tc>
                <a:tc>
                  <a:txBody>
                    <a:bodyPr/>
                    <a:lstStyle/>
                    <a:p>
                      <a:pPr algn="ctr" fontAlgn="b">
                        <a:buNone/>
                      </a:pPr>
                      <a:r>
                        <a:rPr lang="en-US" sz="1100" b="0" i="0" u="none" strike="noStrike">
                          <a:solidFill>
                            <a:srgbClr val="000000"/>
                          </a:solidFill>
                          <a:effectLst/>
                          <a:latin typeface="Calibri" panose="020F0502020204030204" pitchFamily="34" charset="0"/>
                        </a:rPr>
                        <a:t>5.33</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A8F72"/>
                    </a:solidFill>
                  </a:tcPr>
                </a:tc>
                <a:tc>
                  <a:txBody>
                    <a:bodyPr/>
                    <a:lstStyle/>
                    <a:p>
                      <a:pPr algn="ctr" fontAlgn="b">
                        <a:buNone/>
                      </a:pPr>
                      <a:r>
                        <a:rPr lang="en-US" sz="1100" b="0" i="0" u="none" strike="noStrike">
                          <a:solidFill>
                            <a:srgbClr val="000000"/>
                          </a:solidFill>
                          <a:effectLst/>
                          <a:latin typeface="Calibri" panose="020F0502020204030204" pitchFamily="34" charset="0"/>
                        </a:rPr>
                        <a:t>0</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696B"/>
                    </a:solidFill>
                  </a:tcPr>
                </a:tc>
                <a:tc>
                  <a:txBody>
                    <a:bodyPr/>
                    <a:lstStyle/>
                    <a:p>
                      <a:pPr algn="ctr" fontAlgn="b">
                        <a:buNone/>
                      </a:pPr>
                      <a:r>
                        <a:rPr lang="en-US" sz="1100" b="0" i="0" u="none" strike="noStrike">
                          <a:solidFill>
                            <a:srgbClr val="000000"/>
                          </a:solidFill>
                          <a:effectLst/>
                          <a:latin typeface="Calibri" panose="020F0502020204030204" pitchFamily="34" charset="0"/>
                        </a:rPr>
                        <a:t>1</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8706C"/>
                    </a:solidFill>
                  </a:tcPr>
                </a:tc>
                <a:tc>
                  <a:txBody>
                    <a:bodyPr/>
                    <a:lstStyle/>
                    <a:p>
                      <a:pPr algn="ctr" fontAlgn="b">
                        <a:buNone/>
                      </a:pPr>
                      <a:r>
                        <a:rPr lang="en-US" sz="1100" b="0" i="0" u="none" strike="noStrike">
                          <a:solidFill>
                            <a:srgbClr val="000000"/>
                          </a:solidFill>
                          <a:effectLst/>
                          <a:latin typeface="Calibri" panose="020F0502020204030204" pitchFamily="34" charset="0"/>
                        </a:rPr>
                        <a:t>3</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97E6F"/>
                    </a:solidFill>
                  </a:tcPr>
                </a:tc>
                <a:tc>
                  <a:txBody>
                    <a:bodyPr/>
                    <a:lstStyle/>
                    <a:p>
                      <a:pPr algn="ctr" fontAlgn="b">
                        <a:buNone/>
                      </a:pPr>
                      <a:r>
                        <a:rPr lang="en-US" sz="1100" b="0" i="0" u="none" strike="noStrike">
                          <a:solidFill>
                            <a:srgbClr val="000000"/>
                          </a:solidFill>
                          <a:effectLst/>
                          <a:latin typeface="Calibri" panose="020F0502020204030204" pitchFamily="34" charset="0"/>
                        </a:rPr>
                        <a:t>7</a:t>
                      </a:r>
                      <a:endParaRPr lang="en-US" sz="1800" b="0" i="0" u="none" strike="noStrike">
                        <a:effectLst/>
                        <a:latin typeface="Arial" panose="020B0604020202020204" pitchFamily="34" charset="0"/>
                      </a:endParaRPr>
                    </a:p>
                  </a:txBody>
                  <a:tcPr marL="7545" marR="7545" marT="7545" marB="0" anchor="b">
                    <a:lnL>
                      <a:noFill/>
                    </a:lnL>
                    <a:lnR>
                      <a:noFill/>
                    </a:lnR>
                    <a:lnT>
                      <a:noFill/>
                    </a:lnT>
                    <a:lnB>
                      <a:noFill/>
                    </a:lnB>
                    <a:solidFill>
                      <a:srgbClr val="FA9B74"/>
                    </a:solidFill>
                  </a:tcPr>
                </a:tc>
                <a:tc>
                  <a:txBody>
                    <a:bodyPr/>
                    <a:lstStyle/>
                    <a:p>
                      <a:pPr algn="ctr" fontAlgn="b">
                        <a:buNone/>
                      </a:pPr>
                      <a:r>
                        <a:rPr lang="en-US" sz="1100" b="0" i="0" u="none" strike="noStrike" dirty="0">
                          <a:solidFill>
                            <a:srgbClr val="000000"/>
                          </a:solidFill>
                          <a:effectLst/>
                          <a:latin typeface="Calibri" panose="020F0502020204030204" pitchFamily="34" charset="0"/>
                        </a:rPr>
                        <a:t>33</a:t>
                      </a:r>
                      <a:endParaRPr lang="en-US" sz="1800" b="0" i="0" u="none" strike="noStrike" dirty="0">
                        <a:effectLst/>
                        <a:latin typeface="Arial" panose="020B0604020202020204" pitchFamily="34" charset="0"/>
                      </a:endParaRPr>
                    </a:p>
                  </a:txBody>
                  <a:tcPr marL="7545" marR="7545" marT="7545" marB="0" anchor="b">
                    <a:lnL>
                      <a:noFill/>
                    </a:lnL>
                    <a:lnR>
                      <a:noFill/>
                    </a:lnR>
                    <a:lnT>
                      <a:noFill/>
                    </a:lnT>
                    <a:lnB>
                      <a:noFill/>
                    </a:lnB>
                    <a:solidFill>
                      <a:srgbClr val="FFEB84"/>
                    </a:solidFill>
                  </a:tcPr>
                </a:tc>
                <a:extLst>
                  <a:ext uri="{0D108BD9-81ED-4DB2-BD59-A6C34878D82A}">
                    <a16:rowId xmlns:a16="http://schemas.microsoft.com/office/drawing/2014/main" val="2005089377"/>
                  </a:ext>
                </a:extLst>
              </a:tr>
            </a:tbl>
          </a:graphicData>
        </a:graphic>
      </p:graphicFrame>
    </p:spTree>
    <p:extLst>
      <p:ext uri="{BB962C8B-B14F-4D97-AF65-F5344CB8AC3E}">
        <p14:creationId xmlns:p14="http://schemas.microsoft.com/office/powerpoint/2010/main" val="215366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8325F4-0C78-C000-8B31-684AD38910FE}"/>
              </a:ext>
            </a:extLst>
          </p:cNvPr>
          <p:cNvSpPr>
            <a:spLocks noGrp="1"/>
          </p:cNvSpPr>
          <p:nvPr>
            <p:ph type="title"/>
          </p:nvPr>
        </p:nvSpPr>
        <p:spPr>
          <a:xfrm>
            <a:off x="1137034" y="609597"/>
            <a:ext cx="9392421" cy="1330841"/>
          </a:xfrm>
        </p:spPr>
        <p:txBody>
          <a:bodyPr>
            <a:normAutofit/>
          </a:bodyPr>
          <a:lstStyle/>
          <a:p>
            <a:r>
              <a:rPr lang="en-US" b="1"/>
              <a:t>Exploratory Data Analysis (Categorical)</a:t>
            </a:r>
            <a:endParaRPr lang="en-US" b="1" dirty="0"/>
          </a:p>
        </p:txBody>
      </p:sp>
      <p:sp>
        <p:nvSpPr>
          <p:cNvPr id="3" name="Content Placeholder 2">
            <a:extLst>
              <a:ext uri="{FF2B5EF4-FFF2-40B4-BE49-F238E27FC236}">
                <a16:creationId xmlns:a16="http://schemas.microsoft.com/office/drawing/2014/main" id="{F0A83C6D-534B-141E-F822-E91AEA94B1C3}"/>
              </a:ext>
            </a:extLst>
          </p:cNvPr>
          <p:cNvSpPr>
            <a:spLocks noGrp="1"/>
          </p:cNvSpPr>
          <p:nvPr>
            <p:ph idx="1"/>
          </p:nvPr>
        </p:nvSpPr>
        <p:spPr>
          <a:xfrm>
            <a:off x="1137034" y="2198362"/>
            <a:ext cx="4958966" cy="3917773"/>
          </a:xfrm>
        </p:spPr>
        <p:txBody>
          <a:bodyPr>
            <a:normAutofit/>
          </a:bodyPr>
          <a:lstStyle/>
          <a:p>
            <a:r>
              <a:rPr lang="en-US" sz="2000"/>
              <a:t>Clinical Findings: Abnormal X-rays show the strongest association with risk (0.75).</a:t>
            </a:r>
          </a:p>
          <a:p>
            <a:r>
              <a:rPr lang="en-US" sz="2000"/>
              <a:t>Comorbidities: COPD status (0.62) is a significant precursor to lung cancer malignancy.</a:t>
            </a:r>
          </a:p>
          <a:p>
            <a:r>
              <a:rPr lang="en-US" sz="2000"/>
              <a:t>Lifestyle: Smoking status shows a strong 0.63 correlation with the target variable.</a:t>
            </a:r>
          </a:p>
        </p:txBody>
      </p:sp>
      <p:sp>
        <p:nvSpPr>
          <p:cNvPr id="25" name="Freeform: Shape 2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Table 4">
            <a:extLst>
              <a:ext uri="{FF2B5EF4-FFF2-40B4-BE49-F238E27FC236}">
                <a16:creationId xmlns:a16="http://schemas.microsoft.com/office/drawing/2014/main" id="{720DC19E-2D21-4C68-9072-D0B6CEF8667E}"/>
              </a:ext>
            </a:extLst>
          </p:cNvPr>
          <p:cNvGraphicFramePr>
            <a:graphicFrameLocks noGrp="1"/>
          </p:cNvGraphicFramePr>
          <p:nvPr>
            <p:extLst>
              <p:ext uri="{D42A27DB-BD31-4B8C-83A1-F6EECF244321}">
                <p14:modId xmlns:p14="http://schemas.microsoft.com/office/powerpoint/2010/main" val="1864764922"/>
              </p:ext>
            </p:extLst>
          </p:nvPr>
        </p:nvGraphicFramePr>
        <p:xfrm>
          <a:off x="6719367" y="2588427"/>
          <a:ext cx="4788508" cy="2948891"/>
        </p:xfrm>
        <a:graphic>
          <a:graphicData uri="http://schemas.openxmlformats.org/drawingml/2006/table">
            <a:tbl>
              <a:tblPr>
                <a:tableStyleId>{5C22544A-7EE6-4342-B048-85BDC9FD1C3A}</a:tableStyleId>
              </a:tblPr>
              <a:tblGrid>
                <a:gridCol w="1299017">
                  <a:extLst>
                    <a:ext uri="{9D8B030D-6E8A-4147-A177-3AD203B41FA5}">
                      <a16:colId xmlns:a16="http://schemas.microsoft.com/office/drawing/2014/main" val="2077269488"/>
                    </a:ext>
                  </a:extLst>
                </a:gridCol>
                <a:gridCol w="1023815">
                  <a:extLst>
                    <a:ext uri="{9D8B030D-6E8A-4147-A177-3AD203B41FA5}">
                      <a16:colId xmlns:a16="http://schemas.microsoft.com/office/drawing/2014/main" val="3744127126"/>
                    </a:ext>
                  </a:extLst>
                </a:gridCol>
                <a:gridCol w="564603">
                  <a:extLst>
                    <a:ext uri="{9D8B030D-6E8A-4147-A177-3AD203B41FA5}">
                      <a16:colId xmlns:a16="http://schemas.microsoft.com/office/drawing/2014/main" val="2660629586"/>
                    </a:ext>
                  </a:extLst>
                </a:gridCol>
                <a:gridCol w="927739">
                  <a:extLst>
                    <a:ext uri="{9D8B030D-6E8A-4147-A177-3AD203B41FA5}">
                      <a16:colId xmlns:a16="http://schemas.microsoft.com/office/drawing/2014/main" val="783080037"/>
                    </a:ext>
                  </a:extLst>
                </a:gridCol>
                <a:gridCol w="973334">
                  <a:extLst>
                    <a:ext uri="{9D8B030D-6E8A-4147-A177-3AD203B41FA5}">
                      <a16:colId xmlns:a16="http://schemas.microsoft.com/office/drawing/2014/main" val="1498034423"/>
                    </a:ext>
                  </a:extLst>
                </a:gridCol>
              </a:tblGrid>
              <a:tr h="233677">
                <a:tc gridSpan="5">
                  <a:txBody>
                    <a:bodyPr/>
                    <a:lstStyle/>
                    <a:p>
                      <a:pPr algn="ctr" fontAlgn="b">
                        <a:buNone/>
                      </a:pPr>
                      <a:r>
                        <a:rPr lang="en-US" sz="1200" u="none" strike="noStrike">
                          <a:effectLst/>
                        </a:rPr>
                        <a:t>Categorical Feature Analysis</a:t>
                      </a:r>
                      <a:endParaRPr lang="en-US" sz="1200" b="1" i="0" u="none" strike="noStrike">
                        <a:solidFill>
                          <a:srgbClr val="000000"/>
                        </a:solidFill>
                        <a:effectLst/>
                        <a:latin typeface="Calibri" panose="020F0502020204030204" pitchFamily="34" charset="0"/>
                      </a:endParaRPr>
                    </a:p>
                  </a:txBody>
                  <a:tcPr marL="8564" marR="8564" marT="8564"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91524432"/>
                  </a:ext>
                </a:extLst>
              </a:tr>
              <a:tr h="608864">
                <a:tc>
                  <a:txBody>
                    <a:bodyPr/>
                    <a:lstStyle/>
                    <a:p>
                      <a:pPr algn="ctr" fontAlgn="b">
                        <a:buNone/>
                      </a:pPr>
                      <a:r>
                        <a:rPr lang="en-US" sz="1200" u="none" strike="noStrike">
                          <a:effectLst/>
                        </a:rPr>
                        <a:t>Feature</a:t>
                      </a:r>
                      <a:endParaRPr lang="en-US" sz="1200" b="1"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Category</a:t>
                      </a:r>
                      <a:endParaRPr lang="en-US" sz="1200" b="1"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Count</a:t>
                      </a:r>
                      <a:endParaRPr lang="en-US" sz="1200" b="1"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Percentage (%)</a:t>
                      </a:r>
                      <a:endParaRPr lang="en-US" sz="1200" b="1"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Cramér’s V (Risk Association)</a:t>
                      </a:r>
                      <a:endParaRPr lang="en-US" sz="1200" b="1" i="0" u="none" strike="noStrike">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2610939948"/>
                  </a:ext>
                </a:extLst>
              </a:tr>
              <a:tr h="421270">
                <a:tc>
                  <a:txBody>
                    <a:bodyPr/>
                    <a:lstStyle/>
                    <a:p>
                      <a:pPr algn="ctr" fontAlgn="b">
                        <a:buNone/>
                      </a:pPr>
                      <a:r>
                        <a:rPr lang="en-US" sz="1200" u="none" strike="noStrike">
                          <a:effectLst/>
                        </a:rPr>
                        <a:t>gender</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Female/Male</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2559 / 2441</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51.2% / 48.8%</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0.02 (Weak)</a:t>
                      </a:r>
                      <a:endParaRPr lang="en-US" sz="1200" b="0" i="0" u="none" strike="noStrike">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4017142224"/>
                  </a:ext>
                </a:extLst>
              </a:tr>
              <a:tr h="421270">
                <a:tc>
                  <a:txBody>
                    <a:bodyPr/>
                    <a:lstStyle/>
                    <a:p>
                      <a:pPr algn="ctr" fontAlgn="b">
                        <a:buNone/>
                      </a:pPr>
                      <a:r>
                        <a:rPr lang="en-US" sz="1200" u="none" strike="noStrike">
                          <a:effectLst/>
                        </a:rPr>
                        <a:t>smoker</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No/Yes</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2726 / 2274</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54.5% / 45.5%</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0.63 (Strong)</a:t>
                      </a:r>
                      <a:endParaRPr lang="en-US" sz="1200" b="0" i="0" u="none" strike="noStrike">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2536306725"/>
                  </a:ext>
                </a:extLst>
              </a:tr>
              <a:tr h="421270">
                <a:tc>
                  <a:txBody>
                    <a:bodyPr/>
                    <a:lstStyle/>
                    <a:p>
                      <a:pPr algn="ctr" fontAlgn="b">
                        <a:buNone/>
                      </a:pPr>
                      <a:r>
                        <a:rPr lang="en-US" sz="1200" u="none" strike="noStrike">
                          <a:effectLst/>
                        </a:rPr>
                        <a:t>xray_abnormal</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No/Yes</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3918 / 1082</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78.4% / 21.6%</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0.75 (Very Strong)</a:t>
                      </a:r>
                      <a:endParaRPr lang="en-US" sz="1200" b="0" i="0" u="none" strike="noStrike">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1530810028"/>
                  </a:ext>
                </a:extLst>
              </a:tr>
              <a:tr h="421270">
                <a:tc>
                  <a:txBody>
                    <a:bodyPr/>
                    <a:lstStyle/>
                    <a:p>
                      <a:pPr algn="ctr" fontAlgn="b">
                        <a:buNone/>
                      </a:pPr>
                      <a:r>
                        <a:rPr lang="en-US" sz="1200" u="none" strike="noStrike">
                          <a:effectLst/>
                        </a:rPr>
                        <a:t>copd</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No/Yes</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4203 / 797</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84.1% / 15.9%</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0.62 (Strong)</a:t>
                      </a:r>
                      <a:endParaRPr lang="en-US" sz="1200" b="0" i="0" u="none" strike="noStrike">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2213301012"/>
                  </a:ext>
                </a:extLst>
              </a:tr>
              <a:tr h="421270">
                <a:tc>
                  <a:txBody>
                    <a:bodyPr/>
                    <a:lstStyle/>
                    <a:p>
                      <a:pPr algn="ctr" fontAlgn="b">
                        <a:buNone/>
                      </a:pPr>
                      <a:r>
                        <a:rPr lang="en-US" sz="1200" u="none" strike="noStrike">
                          <a:effectLst/>
                        </a:rPr>
                        <a:t>lung_cancer_risk</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No/Yes</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3874 / 1126</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77.5% / 22.5%</a:t>
                      </a:r>
                      <a:endParaRPr lang="en-US" sz="1200" b="0" i="0" u="none" strike="noStrike">
                        <a:solidFill>
                          <a:srgbClr val="000000"/>
                        </a:solidFill>
                        <a:effectLst/>
                        <a:latin typeface="Calibri" panose="020F0502020204030204" pitchFamily="34" charset="0"/>
                      </a:endParaRPr>
                    </a:p>
                  </a:txBody>
                  <a:tcPr marL="8564" marR="8564" marT="8564" marB="0" anchor="b"/>
                </a:tc>
                <a:tc>
                  <a:txBody>
                    <a:bodyPr/>
                    <a:lstStyle/>
                    <a:p>
                      <a:pPr algn="ctr" fontAlgn="b">
                        <a:buNone/>
                      </a:pPr>
                      <a:r>
                        <a:rPr lang="en-US" sz="1200" u="none" strike="noStrike">
                          <a:effectLst/>
                        </a:rPr>
                        <a:t>1.00 (Target)</a:t>
                      </a:r>
                      <a:endParaRPr lang="en-US" sz="1200" b="0" i="0" u="none" strike="noStrike" dirty="0">
                        <a:solidFill>
                          <a:srgbClr val="000000"/>
                        </a:solidFill>
                        <a:effectLst/>
                        <a:latin typeface="Calibri" panose="020F0502020204030204" pitchFamily="34" charset="0"/>
                      </a:endParaRPr>
                    </a:p>
                  </a:txBody>
                  <a:tcPr marL="8564" marR="8564" marT="8564" marB="0" anchor="b"/>
                </a:tc>
                <a:extLst>
                  <a:ext uri="{0D108BD9-81ED-4DB2-BD59-A6C34878D82A}">
                    <a16:rowId xmlns:a16="http://schemas.microsoft.com/office/drawing/2014/main" val="2028422473"/>
                  </a:ext>
                </a:extLst>
              </a:tr>
            </a:tbl>
          </a:graphicData>
        </a:graphic>
      </p:graphicFrame>
    </p:spTree>
    <p:extLst>
      <p:ext uri="{BB962C8B-B14F-4D97-AF65-F5344CB8AC3E}">
        <p14:creationId xmlns:p14="http://schemas.microsoft.com/office/powerpoint/2010/main" val="3812240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764F4FE-6362-440F-8D56-C54DE19F3C3C}"/>
              </a:ext>
            </a:extLst>
          </p:cNvPr>
          <p:cNvSpPr>
            <a:spLocks noGrp="1"/>
          </p:cNvSpPr>
          <p:nvPr>
            <p:ph type="title"/>
          </p:nvPr>
        </p:nvSpPr>
        <p:spPr>
          <a:xfrm>
            <a:off x="1137034" y="609597"/>
            <a:ext cx="9392421" cy="1330841"/>
          </a:xfrm>
        </p:spPr>
        <p:txBody>
          <a:bodyPr>
            <a:normAutofit/>
          </a:bodyPr>
          <a:lstStyle/>
          <a:p>
            <a:r>
              <a:rPr lang="en-US" b="1"/>
              <a:t>Model Selection and Benchmarking</a:t>
            </a:r>
            <a:endParaRPr lang="en-US" dirty="0"/>
          </a:p>
        </p:txBody>
      </p:sp>
      <p:sp>
        <p:nvSpPr>
          <p:cNvPr id="3" name="Content Placeholder 2">
            <a:extLst>
              <a:ext uri="{FF2B5EF4-FFF2-40B4-BE49-F238E27FC236}">
                <a16:creationId xmlns:a16="http://schemas.microsoft.com/office/drawing/2014/main" id="{A236956B-4ACB-5A3F-41FE-887EC283C756}"/>
              </a:ext>
            </a:extLst>
          </p:cNvPr>
          <p:cNvSpPr>
            <a:spLocks noGrp="1"/>
          </p:cNvSpPr>
          <p:nvPr>
            <p:ph idx="1"/>
          </p:nvPr>
        </p:nvSpPr>
        <p:spPr>
          <a:xfrm>
            <a:off x="1137034" y="2198362"/>
            <a:ext cx="4958966" cy="3917773"/>
          </a:xfrm>
        </p:spPr>
        <p:txBody>
          <a:bodyPr>
            <a:normAutofit/>
          </a:bodyPr>
          <a:lstStyle/>
          <a:p>
            <a:r>
              <a:rPr lang="en-US" sz="2000"/>
              <a:t>Algorithms Evaluated: Comparison between Gradient Boosting (CatBoost, LightGBM, XGBoost) and traditional models (SVR, Decision Tree).</a:t>
            </a:r>
          </a:p>
          <a:p>
            <a:r>
              <a:rPr lang="en-US" sz="2000"/>
              <a:t>The Winner: CatBoost emerged as the top performer due to its superior handling of categorical data.</a:t>
            </a:r>
          </a:p>
          <a:p>
            <a:pPr marL="0" indent="0">
              <a:buNone/>
            </a:pPr>
            <a:endParaRPr lang="en-US" sz="2000"/>
          </a:p>
        </p:txBody>
      </p:sp>
      <p:sp>
        <p:nvSpPr>
          <p:cNvPr id="26" name="Freeform: Shape 2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5" name="Table 4">
            <a:extLst>
              <a:ext uri="{FF2B5EF4-FFF2-40B4-BE49-F238E27FC236}">
                <a16:creationId xmlns:a16="http://schemas.microsoft.com/office/drawing/2014/main" id="{E2FF8564-6E33-ECB9-31DB-4B440BCFE334}"/>
              </a:ext>
            </a:extLst>
          </p:cNvPr>
          <p:cNvGraphicFramePr>
            <a:graphicFrameLocks noGrp="1"/>
          </p:cNvGraphicFramePr>
          <p:nvPr>
            <p:extLst>
              <p:ext uri="{D42A27DB-BD31-4B8C-83A1-F6EECF244321}">
                <p14:modId xmlns:p14="http://schemas.microsoft.com/office/powerpoint/2010/main" val="3003779001"/>
              </p:ext>
            </p:extLst>
          </p:nvPr>
        </p:nvGraphicFramePr>
        <p:xfrm>
          <a:off x="6719367" y="2467590"/>
          <a:ext cx="4788507" cy="3190565"/>
        </p:xfrm>
        <a:graphic>
          <a:graphicData uri="http://schemas.openxmlformats.org/drawingml/2006/table">
            <a:tbl>
              <a:tblPr firstRow="1" bandRow="1"/>
              <a:tblGrid>
                <a:gridCol w="1153323">
                  <a:extLst>
                    <a:ext uri="{9D8B030D-6E8A-4147-A177-3AD203B41FA5}">
                      <a16:colId xmlns:a16="http://schemas.microsoft.com/office/drawing/2014/main" val="2522186308"/>
                    </a:ext>
                  </a:extLst>
                </a:gridCol>
                <a:gridCol w="858274">
                  <a:extLst>
                    <a:ext uri="{9D8B030D-6E8A-4147-A177-3AD203B41FA5}">
                      <a16:colId xmlns:a16="http://schemas.microsoft.com/office/drawing/2014/main" val="4191779567"/>
                    </a:ext>
                  </a:extLst>
                </a:gridCol>
                <a:gridCol w="858274">
                  <a:extLst>
                    <a:ext uri="{9D8B030D-6E8A-4147-A177-3AD203B41FA5}">
                      <a16:colId xmlns:a16="http://schemas.microsoft.com/office/drawing/2014/main" val="3244024080"/>
                    </a:ext>
                  </a:extLst>
                </a:gridCol>
                <a:gridCol w="858274">
                  <a:extLst>
                    <a:ext uri="{9D8B030D-6E8A-4147-A177-3AD203B41FA5}">
                      <a16:colId xmlns:a16="http://schemas.microsoft.com/office/drawing/2014/main" val="874592299"/>
                    </a:ext>
                  </a:extLst>
                </a:gridCol>
                <a:gridCol w="1060362">
                  <a:extLst>
                    <a:ext uri="{9D8B030D-6E8A-4147-A177-3AD203B41FA5}">
                      <a16:colId xmlns:a16="http://schemas.microsoft.com/office/drawing/2014/main" val="1626752590"/>
                    </a:ext>
                  </a:extLst>
                </a:gridCol>
              </a:tblGrid>
              <a:tr h="501279">
                <a:tc gridSpan="5">
                  <a:txBody>
                    <a:bodyPr/>
                    <a:lstStyle/>
                    <a:p>
                      <a:pPr algn="ctr" fontAlgn="b">
                        <a:buNone/>
                      </a:pPr>
                      <a:r>
                        <a:rPr lang="en-US" sz="1900" b="1" i="0" u="none" strike="noStrike">
                          <a:solidFill>
                            <a:srgbClr val="000000"/>
                          </a:solidFill>
                          <a:effectLst/>
                          <a:latin typeface="Calibri" panose="020F0502020204030204" pitchFamily="34" charset="0"/>
                        </a:rPr>
                        <a:t>Model Performance Comparison</a:t>
                      </a:r>
                      <a:endParaRPr lang="en-US" sz="3200" b="0" i="0" u="none" strike="noStrike">
                        <a:effectLst/>
                        <a:latin typeface="Arial" panose="020B0604020202020204" pitchFamily="34" charset="0"/>
                      </a:endParaRPr>
                    </a:p>
                  </a:txBody>
                  <a:tcPr marL="163710" marR="163710" marT="81855" marB="81855">
                    <a:lnL>
                      <a:noFill/>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67051880"/>
                  </a:ext>
                </a:extLst>
              </a:tr>
              <a:tr h="351212">
                <a:tc>
                  <a:txBody>
                    <a:bodyPr/>
                    <a:lstStyle/>
                    <a:p>
                      <a:pPr algn="ctr" fontAlgn="b">
                        <a:buNone/>
                      </a:pPr>
                      <a:r>
                        <a:rPr lang="en-US" sz="1900" b="1" i="0" u="none" strike="noStrike">
                          <a:solidFill>
                            <a:srgbClr val="000000"/>
                          </a:solidFill>
                          <a:effectLst/>
                          <a:latin typeface="Calibri" panose="020F0502020204030204" pitchFamily="34" charset="0"/>
                        </a:rPr>
                        <a:t>Model</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1" i="0" u="none" strike="noStrike">
                          <a:solidFill>
                            <a:srgbClr val="000000"/>
                          </a:solidFill>
                          <a:effectLst/>
                          <a:latin typeface="Calibri" panose="020F0502020204030204" pitchFamily="34" charset="0"/>
                        </a:rPr>
                        <a:t>MSE</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1" i="0" u="none" strike="noStrike">
                          <a:solidFill>
                            <a:srgbClr val="000000"/>
                          </a:solidFill>
                          <a:effectLst/>
                          <a:latin typeface="Calibri" panose="020F0502020204030204" pitchFamily="34" charset="0"/>
                        </a:rPr>
                        <a:t>RMSE</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1" i="0" u="none" strike="noStrike">
                          <a:solidFill>
                            <a:srgbClr val="000000"/>
                          </a:solidFill>
                          <a:effectLst/>
                          <a:latin typeface="Calibri" panose="020F0502020204030204" pitchFamily="34" charset="0"/>
                        </a:rPr>
                        <a:t>MAE</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1" i="0" u="none" strike="noStrike">
                          <a:solidFill>
                            <a:srgbClr val="000000"/>
                          </a:solidFill>
                          <a:effectLst/>
                          <a:latin typeface="Calibri" panose="020F0502020204030204" pitchFamily="34" charset="0"/>
                        </a:rPr>
                        <a:t>Rank</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extLst>
                  <a:ext uri="{0D108BD9-81ED-4DB2-BD59-A6C34878D82A}">
                    <a16:rowId xmlns:a16="http://schemas.microsoft.com/office/drawing/2014/main" val="3079139395"/>
                  </a:ext>
                </a:extLst>
              </a:tr>
              <a:tr h="642219">
                <a:tc>
                  <a:txBody>
                    <a:bodyPr/>
                    <a:lstStyle/>
                    <a:p>
                      <a:pPr algn="ctr" fontAlgn="b">
                        <a:buNone/>
                      </a:pPr>
                      <a:r>
                        <a:rPr lang="en-US" sz="1900" b="0" i="0" u="none" strike="noStrike">
                          <a:solidFill>
                            <a:srgbClr val="000000"/>
                          </a:solidFill>
                          <a:effectLst/>
                          <a:latin typeface="Calibri" panose="020F0502020204030204" pitchFamily="34" charset="0"/>
                        </a:rPr>
                        <a:t>CatBoost</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0" i="0" u="none" strike="noStrike">
                          <a:solidFill>
                            <a:srgbClr val="000000"/>
                          </a:solidFill>
                          <a:effectLst/>
                          <a:latin typeface="Calibri" panose="020F0502020204030204" pitchFamily="34" charset="0"/>
                        </a:rPr>
                        <a:t>0.0207</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8696B"/>
                    </a:solidFill>
                  </a:tcPr>
                </a:tc>
                <a:tc>
                  <a:txBody>
                    <a:bodyPr/>
                    <a:lstStyle/>
                    <a:p>
                      <a:pPr algn="ctr" fontAlgn="b">
                        <a:buNone/>
                      </a:pPr>
                      <a:r>
                        <a:rPr lang="en-US" sz="1900" b="0" i="0" u="none" strike="noStrike">
                          <a:solidFill>
                            <a:srgbClr val="000000"/>
                          </a:solidFill>
                          <a:effectLst/>
                          <a:latin typeface="Calibri" panose="020F0502020204030204" pitchFamily="34" charset="0"/>
                        </a:rPr>
                        <a:t>0.1439</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FEB84"/>
                    </a:solidFill>
                  </a:tcPr>
                </a:tc>
                <a:tc>
                  <a:txBody>
                    <a:bodyPr/>
                    <a:lstStyle/>
                    <a:p>
                      <a:pPr algn="ctr" fontAlgn="b">
                        <a:buNone/>
                      </a:pPr>
                      <a:r>
                        <a:rPr lang="en-US" sz="1900" b="0" i="0" u="none" strike="noStrike">
                          <a:solidFill>
                            <a:srgbClr val="000000"/>
                          </a:solidFill>
                          <a:effectLst/>
                          <a:latin typeface="Calibri" panose="020F0502020204030204" pitchFamily="34" charset="0"/>
                        </a:rPr>
                        <a:t>0.0579</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A9573"/>
                    </a:solidFill>
                  </a:tcPr>
                </a:tc>
                <a:tc>
                  <a:txBody>
                    <a:bodyPr/>
                    <a:lstStyle/>
                    <a:p>
                      <a:pPr algn="ctr" fontAlgn="b">
                        <a:buNone/>
                      </a:pPr>
                      <a:r>
                        <a:rPr lang="en-US" sz="1900" b="0" i="0" u="none" strike="noStrike">
                          <a:solidFill>
                            <a:srgbClr val="000000"/>
                          </a:solidFill>
                          <a:effectLst/>
                          <a:latin typeface="Calibri" panose="020F0502020204030204" pitchFamily="34" charset="0"/>
                        </a:rPr>
                        <a:t>1 (Winner)</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extLst>
                  <a:ext uri="{0D108BD9-81ED-4DB2-BD59-A6C34878D82A}">
                    <a16:rowId xmlns:a16="http://schemas.microsoft.com/office/drawing/2014/main" val="3063791341"/>
                  </a:ext>
                </a:extLst>
              </a:tr>
              <a:tr h="351212">
                <a:tc>
                  <a:txBody>
                    <a:bodyPr/>
                    <a:lstStyle/>
                    <a:p>
                      <a:pPr algn="ctr" fontAlgn="b">
                        <a:buNone/>
                      </a:pPr>
                      <a:r>
                        <a:rPr lang="en-US" sz="1900" b="0" i="0" u="none" strike="noStrike">
                          <a:solidFill>
                            <a:srgbClr val="000000"/>
                          </a:solidFill>
                          <a:effectLst/>
                          <a:latin typeface="Calibri" panose="020F0502020204030204" pitchFamily="34" charset="0"/>
                        </a:rPr>
                        <a:t>LightGBM</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0" i="0" u="none" strike="noStrike">
                          <a:solidFill>
                            <a:srgbClr val="000000"/>
                          </a:solidFill>
                          <a:effectLst/>
                          <a:latin typeface="Calibri" panose="020F0502020204030204" pitchFamily="34" charset="0"/>
                        </a:rPr>
                        <a:t>0.0234</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86C6B"/>
                    </a:solidFill>
                  </a:tcPr>
                </a:tc>
                <a:tc>
                  <a:txBody>
                    <a:bodyPr/>
                    <a:lstStyle/>
                    <a:p>
                      <a:pPr algn="ctr" fontAlgn="b">
                        <a:buNone/>
                      </a:pPr>
                      <a:r>
                        <a:rPr lang="en-US" sz="1900" b="0" i="0" u="none" strike="noStrike">
                          <a:solidFill>
                            <a:srgbClr val="000000"/>
                          </a:solidFill>
                          <a:effectLst/>
                          <a:latin typeface="Calibri" panose="020F0502020204030204" pitchFamily="34" charset="0"/>
                        </a:rPr>
                        <a:t>0.1531</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FEB84"/>
                    </a:solidFill>
                  </a:tcPr>
                </a:tc>
                <a:tc>
                  <a:txBody>
                    <a:bodyPr/>
                    <a:lstStyle/>
                    <a:p>
                      <a:pPr algn="ctr" fontAlgn="b">
                        <a:buNone/>
                      </a:pPr>
                      <a:r>
                        <a:rPr lang="en-US" sz="1900" b="0" i="0" u="none" strike="noStrike">
                          <a:solidFill>
                            <a:srgbClr val="000000"/>
                          </a:solidFill>
                          <a:effectLst/>
                          <a:latin typeface="Calibri" panose="020F0502020204030204" pitchFamily="34" charset="0"/>
                        </a:rPr>
                        <a:t>0.0576</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A9573"/>
                    </a:solidFill>
                  </a:tcPr>
                </a:tc>
                <a:tc>
                  <a:txBody>
                    <a:bodyPr/>
                    <a:lstStyle/>
                    <a:p>
                      <a:pPr algn="ctr" fontAlgn="b">
                        <a:buNone/>
                      </a:pPr>
                      <a:r>
                        <a:rPr lang="en-US" sz="1900" b="0" i="0" u="none" strike="noStrike">
                          <a:solidFill>
                            <a:srgbClr val="000000"/>
                          </a:solidFill>
                          <a:effectLst/>
                          <a:latin typeface="Calibri" panose="020F0502020204030204" pitchFamily="34" charset="0"/>
                        </a:rPr>
                        <a:t>2</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C4DA81"/>
                    </a:solidFill>
                  </a:tcPr>
                </a:tc>
                <a:extLst>
                  <a:ext uri="{0D108BD9-81ED-4DB2-BD59-A6C34878D82A}">
                    <a16:rowId xmlns:a16="http://schemas.microsoft.com/office/drawing/2014/main" val="1472891438"/>
                  </a:ext>
                </a:extLst>
              </a:tr>
              <a:tr h="351212">
                <a:tc>
                  <a:txBody>
                    <a:bodyPr/>
                    <a:lstStyle/>
                    <a:p>
                      <a:pPr algn="ctr" fontAlgn="b">
                        <a:buNone/>
                      </a:pPr>
                      <a:r>
                        <a:rPr lang="en-US" sz="1900" b="0" i="0" u="none" strike="noStrike">
                          <a:solidFill>
                            <a:srgbClr val="000000"/>
                          </a:solidFill>
                          <a:effectLst/>
                          <a:latin typeface="Calibri" panose="020F0502020204030204" pitchFamily="34" charset="0"/>
                        </a:rPr>
                        <a:t>XGBoost</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0" i="0" u="none" strike="noStrike">
                          <a:solidFill>
                            <a:srgbClr val="000000"/>
                          </a:solidFill>
                          <a:effectLst/>
                          <a:latin typeface="Calibri" panose="020F0502020204030204" pitchFamily="34" charset="0"/>
                        </a:rPr>
                        <a:t>0.0277</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8716C"/>
                    </a:solidFill>
                  </a:tcPr>
                </a:tc>
                <a:tc>
                  <a:txBody>
                    <a:bodyPr/>
                    <a:lstStyle/>
                    <a:p>
                      <a:pPr algn="ctr" fontAlgn="b">
                        <a:buNone/>
                      </a:pPr>
                      <a:r>
                        <a:rPr lang="en-US" sz="1900" b="0" i="0" u="none" strike="noStrike">
                          <a:solidFill>
                            <a:srgbClr val="000000"/>
                          </a:solidFill>
                          <a:effectLst/>
                          <a:latin typeface="Calibri" panose="020F0502020204030204" pitchFamily="34" charset="0"/>
                        </a:rPr>
                        <a:t>0.1664</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EEB84"/>
                    </a:solidFill>
                  </a:tcPr>
                </a:tc>
                <a:tc>
                  <a:txBody>
                    <a:bodyPr/>
                    <a:lstStyle/>
                    <a:p>
                      <a:pPr algn="ctr" fontAlgn="b">
                        <a:buNone/>
                      </a:pPr>
                      <a:r>
                        <a:rPr lang="en-US" sz="1900" b="0" i="0" u="none" strike="noStrike">
                          <a:solidFill>
                            <a:srgbClr val="000000"/>
                          </a:solidFill>
                          <a:effectLst/>
                          <a:latin typeface="Calibri" panose="020F0502020204030204" pitchFamily="34" charset="0"/>
                        </a:rPr>
                        <a:t>0.0599</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A9774"/>
                    </a:solidFill>
                  </a:tcPr>
                </a:tc>
                <a:tc>
                  <a:txBody>
                    <a:bodyPr/>
                    <a:lstStyle/>
                    <a:p>
                      <a:pPr algn="ctr" fontAlgn="b">
                        <a:buNone/>
                      </a:pPr>
                      <a:r>
                        <a:rPr lang="en-US" sz="1900" b="0" i="0" u="none" strike="noStrike">
                          <a:solidFill>
                            <a:srgbClr val="000000"/>
                          </a:solidFill>
                          <a:effectLst/>
                          <a:latin typeface="Calibri" panose="020F0502020204030204" pitchFamily="34" charset="0"/>
                        </a:rPr>
                        <a:t>3</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A4D17F"/>
                    </a:solidFill>
                  </a:tcPr>
                </a:tc>
                <a:extLst>
                  <a:ext uri="{0D108BD9-81ED-4DB2-BD59-A6C34878D82A}">
                    <a16:rowId xmlns:a16="http://schemas.microsoft.com/office/drawing/2014/main" val="3304929703"/>
                  </a:ext>
                </a:extLst>
              </a:tr>
              <a:tr h="351212">
                <a:tc>
                  <a:txBody>
                    <a:bodyPr/>
                    <a:lstStyle/>
                    <a:p>
                      <a:pPr algn="ctr" fontAlgn="b">
                        <a:buNone/>
                      </a:pPr>
                      <a:r>
                        <a:rPr lang="en-US" sz="1900" b="0" i="0" u="none" strike="noStrike">
                          <a:solidFill>
                            <a:srgbClr val="000000"/>
                          </a:solidFill>
                          <a:effectLst/>
                          <a:latin typeface="Calibri" panose="020F0502020204030204" pitchFamily="34" charset="0"/>
                        </a:rPr>
                        <a:t>SVR</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0" i="0" u="none" strike="noStrike">
                          <a:solidFill>
                            <a:srgbClr val="000000"/>
                          </a:solidFill>
                          <a:effectLst/>
                          <a:latin typeface="Calibri" panose="020F0502020204030204" pitchFamily="34" charset="0"/>
                        </a:rPr>
                        <a:t>0.041</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9816F"/>
                    </a:solidFill>
                  </a:tcPr>
                </a:tc>
                <a:tc>
                  <a:txBody>
                    <a:bodyPr/>
                    <a:lstStyle/>
                    <a:p>
                      <a:pPr algn="ctr" fontAlgn="b">
                        <a:buNone/>
                      </a:pPr>
                      <a:r>
                        <a:rPr lang="en-US" sz="1900" b="0" i="0" u="none" strike="noStrike">
                          <a:solidFill>
                            <a:srgbClr val="000000"/>
                          </a:solidFill>
                          <a:effectLst/>
                          <a:latin typeface="Calibri" panose="020F0502020204030204" pitchFamily="34" charset="0"/>
                        </a:rPr>
                        <a:t>0.2025</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DEB84"/>
                    </a:solidFill>
                  </a:tcPr>
                </a:tc>
                <a:tc>
                  <a:txBody>
                    <a:bodyPr/>
                    <a:lstStyle/>
                    <a:p>
                      <a:pPr algn="ctr" fontAlgn="b">
                        <a:buNone/>
                      </a:pPr>
                      <a:r>
                        <a:rPr lang="en-US" sz="1900" b="0" i="0" u="none" strike="noStrike">
                          <a:solidFill>
                            <a:srgbClr val="000000"/>
                          </a:solidFill>
                          <a:effectLst/>
                          <a:latin typeface="Calibri" panose="020F0502020204030204" pitchFamily="34" charset="0"/>
                        </a:rPr>
                        <a:t>0.1293</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FEB84"/>
                    </a:solidFill>
                  </a:tcPr>
                </a:tc>
                <a:tc>
                  <a:txBody>
                    <a:bodyPr/>
                    <a:lstStyle/>
                    <a:p>
                      <a:pPr algn="ctr" fontAlgn="b">
                        <a:buNone/>
                      </a:pPr>
                      <a:r>
                        <a:rPr lang="en-US" sz="1900" b="0" i="0" u="none" strike="noStrike">
                          <a:solidFill>
                            <a:srgbClr val="000000"/>
                          </a:solidFill>
                          <a:effectLst/>
                          <a:latin typeface="Calibri" panose="020F0502020204030204" pitchFamily="34" charset="0"/>
                        </a:rPr>
                        <a:t>4</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84C87D"/>
                    </a:solidFill>
                  </a:tcPr>
                </a:tc>
                <a:extLst>
                  <a:ext uri="{0D108BD9-81ED-4DB2-BD59-A6C34878D82A}">
                    <a16:rowId xmlns:a16="http://schemas.microsoft.com/office/drawing/2014/main" val="2421823290"/>
                  </a:ext>
                </a:extLst>
              </a:tr>
              <a:tr h="642219">
                <a:tc>
                  <a:txBody>
                    <a:bodyPr/>
                    <a:lstStyle/>
                    <a:p>
                      <a:pPr algn="ctr" fontAlgn="b">
                        <a:buNone/>
                      </a:pPr>
                      <a:r>
                        <a:rPr lang="en-US" sz="1900" b="0" i="0" u="none" strike="noStrike">
                          <a:solidFill>
                            <a:srgbClr val="000000"/>
                          </a:solidFill>
                          <a:effectLst/>
                          <a:latin typeface="Calibri" panose="020F0502020204030204" pitchFamily="34" charset="0"/>
                        </a:rPr>
                        <a:t>Decision Tree</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noFill/>
                  </a:tcPr>
                </a:tc>
                <a:tc>
                  <a:txBody>
                    <a:bodyPr/>
                    <a:lstStyle/>
                    <a:p>
                      <a:pPr algn="ctr" fontAlgn="b">
                        <a:buNone/>
                      </a:pPr>
                      <a:r>
                        <a:rPr lang="en-US" sz="1900" b="0" i="0" u="none" strike="noStrike">
                          <a:solidFill>
                            <a:srgbClr val="000000"/>
                          </a:solidFill>
                          <a:effectLst/>
                          <a:latin typeface="Calibri" panose="020F0502020204030204" pitchFamily="34" charset="0"/>
                        </a:rPr>
                        <a:t>0.058</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A9573"/>
                    </a:solidFill>
                  </a:tcPr>
                </a:tc>
                <a:tc>
                  <a:txBody>
                    <a:bodyPr/>
                    <a:lstStyle/>
                    <a:p>
                      <a:pPr algn="ctr" fontAlgn="b">
                        <a:buNone/>
                      </a:pPr>
                      <a:r>
                        <a:rPr lang="en-US" sz="1900" b="0" i="0" u="none" strike="noStrike">
                          <a:solidFill>
                            <a:srgbClr val="000000"/>
                          </a:solidFill>
                          <a:effectLst/>
                          <a:latin typeface="Calibri" panose="020F0502020204030204" pitchFamily="34" charset="0"/>
                        </a:rPr>
                        <a:t>0.2408</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CEA84"/>
                    </a:solidFill>
                  </a:tcPr>
                </a:tc>
                <a:tc>
                  <a:txBody>
                    <a:bodyPr/>
                    <a:lstStyle/>
                    <a:p>
                      <a:pPr algn="ctr" fontAlgn="b">
                        <a:buNone/>
                      </a:pPr>
                      <a:r>
                        <a:rPr lang="en-US" sz="1900" b="0" i="0" u="none" strike="noStrike">
                          <a:solidFill>
                            <a:srgbClr val="000000"/>
                          </a:solidFill>
                          <a:effectLst/>
                          <a:latin typeface="Calibri" panose="020F0502020204030204" pitchFamily="34" charset="0"/>
                        </a:rPr>
                        <a:t>0.058</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FA9573"/>
                    </a:solidFill>
                  </a:tcPr>
                </a:tc>
                <a:tc>
                  <a:txBody>
                    <a:bodyPr/>
                    <a:lstStyle/>
                    <a:p>
                      <a:pPr algn="ctr" fontAlgn="b">
                        <a:buNone/>
                      </a:pPr>
                      <a:r>
                        <a:rPr lang="en-US" sz="1900" b="0" i="0" u="none" strike="noStrike">
                          <a:solidFill>
                            <a:srgbClr val="000000"/>
                          </a:solidFill>
                          <a:effectLst/>
                          <a:latin typeface="Calibri" panose="020F0502020204030204" pitchFamily="34" charset="0"/>
                        </a:rPr>
                        <a:t>5</a:t>
                      </a:r>
                      <a:endParaRPr lang="en-US" sz="3200" b="0" i="0" u="none" strike="noStrike">
                        <a:effectLst/>
                        <a:latin typeface="Arial" panose="020B0604020202020204" pitchFamily="34" charset="0"/>
                      </a:endParaRPr>
                    </a:p>
                  </a:txBody>
                  <a:tcPr marL="13643" marR="13643" marT="13643" marB="0" anchor="b">
                    <a:lnL>
                      <a:noFill/>
                    </a:lnL>
                    <a:lnR>
                      <a:noFill/>
                    </a:lnR>
                    <a:lnT>
                      <a:noFill/>
                    </a:lnT>
                    <a:lnB>
                      <a:noFill/>
                    </a:lnB>
                    <a:solidFill>
                      <a:srgbClr val="63BE7B"/>
                    </a:solidFill>
                  </a:tcPr>
                </a:tc>
                <a:extLst>
                  <a:ext uri="{0D108BD9-81ED-4DB2-BD59-A6C34878D82A}">
                    <a16:rowId xmlns:a16="http://schemas.microsoft.com/office/drawing/2014/main" val="863129812"/>
                  </a:ext>
                </a:extLst>
              </a:tr>
            </a:tbl>
          </a:graphicData>
        </a:graphic>
      </p:graphicFrame>
    </p:spTree>
    <p:extLst>
      <p:ext uri="{BB962C8B-B14F-4D97-AF65-F5344CB8AC3E}">
        <p14:creationId xmlns:p14="http://schemas.microsoft.com/office/powerpoint/2010/main" val="37762410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C0C7355-7E83-DBCC-70CB-C34A6C6E2F08}"/>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Optimization via Random Search</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28763626-577B-7885-7D39-BFD08665A0BC}"/>
              </a:ext>
            </a:extLst>
          </p:cNvPr>
          <p:cNvGraphicFramePr>
            <a:graphicFrameLocks noGrp="1"/>
          </p:cNvGraphicFramePr>
          <p:nvPr>
            <p:ph idx="1"/>
            <p:extLst>
              <p:ext uri="{D42A27DB-BD31-4B8C-83A1-F6EECF244321}">
                <p14:modId xmlns:p14="http://schemas.microsoft.com/office/powerpoint/2010/main" val="259706202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29556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AA83AF-A3AB-098D-5659-6BAEBE7F6C68}"/>
              </a:ext>
            </a:extLst>
          </p:cNvPr>
          <p:cNvSpPr>
            <a:spLocks noGrp="1"/>
          </p:cNvSpPr>
          <p:nvPr>
            <p:ph type="title"/>
          </p:nvPr>
        </p:nvSpPr>
        <p:spPr>
          <a:xfrm>
            <a:off x="841248" y="256032"/>
            <a:ext cx="10506456" cy="1014984"/>
          </a:xfrm>
        </p:spPr>
        <p:txBody>
          <a:bodyPr anchor="b">
            <a:normAutofit/>
          </a:bodyPr>
          <a:lstStyle/>
          <a:p>
            <a:r>
              <a:rPr lang="en-US"/>
              <a:t>Optuna Study </a:t>
            </a:r>
            <a:endParaRPr lang="en-US"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FCB191E-F023-C297-4698-9B98560D05EC}"/>
              </a:ext>
            </a:extLst>
          </p:cNvPr>
          <p:cNvGraphicFramePr>
            <a:graphicFrameLocks noGrp="1"/>
          </p:cNvGraphicFramePr>
          <p:nvPr>
            <p:ph idx="1"/>
            <p:extLst>
              <p:ext uri="{D42A27DB-BD31-4B8C-83A1-F6EECF244321}">
                <p14:modId xmlns:p14="http://schemas.microsoft.com/office/powerpoint/2010/main" val="285581497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443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550BE34-C2B8-49B8-8519-67A8CAD51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3" name="Rectangle 42">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CF0AD8-E15F-6913-B881-EA0A847398E6}"/>
              </a:ext>
            </a:extLst>
          </p:cNvPr>
          <p:cNvSpPr>
            <a:spLocks noGrp="1"/>
          </p:cNvSpPr>
          <p:nvPr>
            <p:ph type="title"/>
          </p:nvPr>
        </p:nvSpPr>
        <p:spPr>
          <a:xfrm>
            <a:off x="1046746" y="586822"/>
            <a:ext cx="3560252" cy="1645920"/>
          </a:xfrm>
        </p:spPr>
        <p:txBody>
          <a:bodyPr>
            <a:normAutofit/>
          </a:bodyPr>
          <a:lstStyle/>
          <a:p>
            <a:r>
              <a:rPr lang="en-US" sz="3200" b="1"/>
              <a:t>Final Model Performance</a:t>
            </a:r>
            <a:endParaRPr lang="en-US" sz="3200"/>
          </a:p>
        </p:txBody>
      </p:sp>
      <p:sp>
        <p:nvSpPr>
          <p:cNvPr id="44" name="Rectangle 43">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45" name="Rectangle 44">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6691E299-BB57-76B9-31DE-1D88C7822987}"/>
              </a:ext>
            </a:extLst>
          </p:cNvPr>
          <p:cNvSpPr>
            <a:spLocks noGrp="1"/>
          </p:cNvSpPr>
          <p:nvPr>
            <p:ph idx="1"/>
          </p:nvPr>
        </p:nvSpPr>
        <p:spPr>
          <a:xfrm>
            <a:off x="5351164" y="586822"/>
            <a:ext cx="6002636" cy="1645920"/>
          </a:xfrm>
        </p:spPr>
        <p:txBody>
          <a:bodyPr anchor="ctr">
            <a:normAutofit/>
          </a:bodyPr>
          <a:lstStyle/>
          <a:p>
            <a:r>
              <a:rPr lang="en-US" sz="1500"/>
              <a:t>Variance Explained (R^2): 89.46% — nearly 90% of risk variance is captured by the model.</a:t>
            </a:r>
          </a:p>
          <a:p>
            <a:r>
              <a:rPr lang="en-US" sz="1500"/>
              <a:t>Error Margins: RMSE of 0.1404 and MAE of 0.0558 indicate high clinical reliability.</a:t>
            </a:r>
          </a:p>
          <a:p>
            <a:r>
              <a:rPr lang="en-US" sz="1500"/>
              <a:t>Reliability: High alignment between Actual vs. Predicted risk scores.</a:t>
            </a:r>
          </a:p>
        </p:txBody>
      </p:sp>
      <p:graphicFrame>
        <p:nvGraphicFramePr>
          <p:cNvPr id="5" name="Table 4">
            <a:extLst>
              <a:ext uri="{FF2B5EF4-FFF2-40B4-BE49-F238E27FC236}">
                <a16:creationId xmlns:a16="http://schemas.microsoft.com/office/drawing/2014/main" id="{7A78D8E7-DE9D-D047-ECB2-E193336102CC}"/>
              </a:ext>
            </a:extLst>
          </p:cNvPr>
          <p:cNvGraphicFramePr>
            <a:graphicFrameLocks noGrp="1"/>
          </p:cNvGraphicFramePr>
          <p:nvPr>
            <p:extLst>
              <p:ext uri="{D42A27DB-BD31-4B8C-83A1-F6EECF244321}">
                <p14:modId xmlns:p14="http://schemas.microsoft.com/office/powerpoint/2010/main" val="79939618"/>
              </p:ext>
            </p:extLst>
          </p:nvPr>
        </p:nvGraphicFramePr>
        <p:xfrm>
          <a:off x="557784" y="2890080"/>
          <a:ext cx="11164825" cy="3171819"/>
        </p:xfrm>
        <a:graphic>
          <a:graphicData uri="http://schemas.openxmlformats.org/drawingml/2006/table">
            <a:tbl>
              <a:tblPr>
                <a:tableStyleId>{5C22544A-7EE6-4342-B048-85BDC9FD1C3A}</a:tableStyleId>
              </a:tblPr>
              <a:tblGrid>
                <a:gridCol w="2798558">
                  <a:extLst>
                    <a:ext uri="{9D8B030D-6E8A-4147-A177-3AD203B41FA5}">
                      <a16:colId xmlns:a16="http://schemas.microsoft.com/office/drawing/2014/main" val="4169261167"/>
                    </a:ext>
                  </a:extLst>
                </a:gridCol>
                <a:gridCol w="1455689">
                  <a:extLst>
                    <a:ext uri="{9D8B030D-6E8A-4147-A177-3AD203B41FA5}">
                      <a16:colId xmlns:a16="http://schemas.microsoft.com/office/drawing/2014/main" val="4287678083"/>
                    </a:ext>
                  </a:extLst>
                </a:gridCol>
                <a:gridCol w="6910578">
                  <a:extLst>
                    <a:ext uri="{9D8B030D-6E8A-4147-A177-3AD203B41FA5}">
                      <a16:colId xmlns:a16="http://schemas.microsoft.com/office/drawing/2014/main" val="3406090557"/>
                    </a:ext>
                  </a:extLst>
                </a:gridCol>
              </a:tblGrid>
              <a:tr h="427950">
                <a:tc gridSpan="3">
                  <a:txBody>
                    <a:bodyPr/>
                    <a:lstStyle/>
                    <a:p>
                      <a:pPr algn="ctr" fontAlgn="b">
                        <a:buNone/>
                      </a:pPr>
                      <a:r>
                        <a:rPr lang="en-US" sz="2300" u="none" strike="noStrike">
                          <a:effectLst/>
                        </a:rPr>
                        <a:t>Final Model Performance Metrics</a:t>
                      </a:r>
                      <a:endParaRPr lang="en-US" sz="2300" b="1" i="0" u="none" strike="noStrike">
                        <a:solidFill>
                          <a:srgbClr val="000000"/>
                        </a:solidFill>
                        <a:effectLst/>
                        <a:latin typeface="Calibri" panose="020F0502020204030204" pitchFamily="34" charset="0"/>
                      </a:endParaRPr>
                    </a:p>
                  </a:txBody>
                  <a:tcPr marL="15122" marR="15122" marT="15122" marB="0" anchor="b"/>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90457614"/>
                  </a:ext>
                </a:extLst>
              </a:tr>
              <a:tr h="427950">
                <a:tc>
                  <a:txBody>
                    <a:bodyPr/>
                    <a:lstStyle/>
                    <a:p>
                      <a:pPr algn="ctr" fontAlgn="b">
                        <a:buNone/>
                      </a:pPr>
                      <a:r>
                        <a:rPr lang="en-US" sz="2300" u="none" strike="noStrike">
                          <a:effectLst/>
                        </a:rPr>
                        <a:t>Metric</a:t>
                      </a:r>
                      <a:endParaRPr lang="en-US" sz="2300" b="1"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Value</a:t>
                      </a:r>
                      <a:endParaRPr lang="en-US" sz="2300" b="1"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Interpretation</a:t>
                      </a:r>
                      <a:endParaRPr lang="en-US" sz="2300" b="1" i="0" u="none" strike="noStrike">
                        <a:solidFill>
                          <a:srgbClr val="000000"/>
                        </a:solidFill>
                        <a:effectLst/>
                        <a:latin typeface="Calibri" panose="020F0502020204030204" pitchFamily="34" charset="0"/>
                      </a:endParaRPr>
                    </a:p>
                  </a:txBody>
                  <a:tcPr marL="15122" marR="15122" marT="15122" marB="0" anchor="b"/>
                </a:tc>
                <a:extLst>
                  <a:ext uri="{0D108BD9-81ED-4DB2-BD59-A6C34878D82A}">
                    <a16:rowId xmlns:a16="http://schemas.microsoft.com/office/drawing/2014/main" val="1779139575"/>
                  </a:ext>
                </a:extLst>
              </a:tr>
              <a:tr h="771973">
                <a:tc>
                  <a:txBody>
                    <a:bodyPr/>
                    <a:lstStyle/>
                    <a:p>
                      <a:pPr algn="ctr" fontAlgn="b">
                        <a:buNone/>
                      </a:pPr>
                      <a:r>
                        <a:rPr lang="en-US" sz="2300" u="none" strike="noStrike">
                          <a:effectLst/>
                        </a:rPr>
                        <a:t>RMSE (Root Mean Squared Error)</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0.1404</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Risk predictions are accurate within a very narrow margin.</a:t>
                      </a:r>
                      <a:endParaRPr lang="en-US" sz="2300" b="0" i="0" u="none" strike="noStrike">
                        <a:solidFill>
                          <a:srgbClr val="000000"/>
                        </a:solidFill>
                        <a:effectLst/>
                        <a:latin typeface="Calibri" panose="020F0502020204030204" pitchFamily="34" charset="0"/>
                      </a:endParaRPr>
                    </a:p>
                  </a:txBody>
                  <a:tcPr marL="15122" marR="15122" marT="15122" marB="0" anchor="b"/>
                </a:tc>
                <a:extLst>
                  <a:ext uri="{0D108BD9-81ED-4DB2-BD59-A6C34878D82A}">
                    <a16:rowId xmlns:a16="http://schemas.microsoft.com/office/drawing/2014/main" val="163010066"/>
                  </a:ext>
                </a:extLst>
              </a:tr>
              <a:tr h="771973">
                <a:tc>
                  <a:txBody>
                    <a:bodyPr/>
                    <a:lstStyle/>
                    <a:p>
                      <a:pPr algn="ctr" fontAlgn="b">
                        <a:buNone/>
                      </a:pPr>
                      <a:r>
                        <a:rPr lang="en-US" sz="2300" u="none" strike="noStrike">
                          <a:effectLst/>
                        </a:rPr>
                        <a:t>MAE (Mean Absolute Error)</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0.0558</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The average magnitude of errors in the predictions.</a:t>
                      </a:r>
                      <a:endParaRPr lang="en-US" sz="2300" b="0" i="0" u="none" strike="noStrike">
                        <a:solidFill>
                          <a:srgbClr val="000000"/>
                        </a:solidFill>
                        <a:effectLst/>
                        <a:latin typeface="Calibri" panose="020F0502020204030204" pitchFamily="34" charset="0"/>
                      </a:endParaRPr>
                    </a:p>
                  </a:txBody>
                  <a:tcPr marL="15122" marR="15122" marT="15122" marB="0" anchor="b"/>
                </a:tc>
                <a:extLst>
                  <a:ext uri="{0D108BD9-81ED-4DB2-BD59-A6C34878D82A}">
                    <a16:rowId xmlns:a16="http://schemas.microsoft.com/office/drawing/2014/main" val="1592957823"/>
                  </a:ext>
                </a:extLst>
              </a:tr>
              <a:tr h="771973">
                <a:tc>
                  <a:txBody>
                    <a:bodyPr/>
                    <a:lstStyle/>
                    <a:p>
                      <a:pPr algn="ctr" fontAlgn="b">
                        <a:buNone/>
                      </a:pPr>
                      <a:r>
                        <a:rPr lang="en-US" sz="2300" u="none" strike="noStrike">
                          <a:effectLst/>
                        </a:rPr>
                        <a:t>R² Score</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0.8946</a:t>
                      </a:r>
                      <a:endParaRPr lang="en-US" sz="2300" b="0" i="0" u="none" strike="noStrike">
                        <a:solidFill>
                          <a:srgbClr val="000000"/>
                        </a:solidFill>
                        <a:effectLst/>
                        <a:latin typeface="Calibri" panose="020F0502020204030204" pitchFamily="34" charset="0"/>
                      </a:endParaRPr>
                    </a:p>
                  </a:txBody>
                  <a:tcPr marL="15122" marR="15122" marT="15122" marB="0" anchor="b"/>
                </a:tc>
                <a:tc>
                  <a:txBody>
                    <a:bodyPr/>
                    <a:lstStyle/>
                    <a:p>
                      <a:pPr algn="ctr" fontAlgn="b">
                        <a:buNone/>
                      </a:pPr>
                      <a:r>
                        <a:rPr lang="en-US" sz="2300" u="none" strike="noStrike">
                          <a:effectLst/>
                        </a:rPr>
                        <a:t>Approximately 89.46% of the variance in lung cancer risk is explained by the model's features.</a:t>
                      </a:r>
                      <a:endParaRPr lang="en-US" sz="2300" b="0" i="0" u="none" strike="noStrike">
                        <a:solidFill>
                          <a:srgbClr val="000000"/>
                        </a:solidFill>
                        <a:effectLst/>
                        <a:latin typeface="Calibri" panose="020F0502020204030204" pitchFamily="34" charset="0"/>
                      </a:endParaRPr>
                    </a:p>
                  </a:txBody>
                  <a:tcPr marL="15122" marR="15122" marT="15122" marB="0" anchor="b"/>
                </a:tc>
                <a:extLst>
                  <a:ext uri="{0D108BD9-81ED-4DB2-BD59-A6C34878D82A}">
                    <a16:rowId xmlns:a16="http://schemas.microsoft.com/office/drawing/2014/main" val="3230217150"/>
                  </a:ext>
                </a:extLst>
              </a:tr>
            </a:tbl>
          </a:graphicData>
        </a:graphic>
      </p:graphicFrame>
    </p:spTree>
    <p:extLst>
      <p:ext uri="{BB962C8B-B14F-4D97-AF65-F5344CB8AC3E}">
        <p14:creationId xmlns:p14="http://schemas.microsoft.com/office/powerpoint/2010/main" val="3437023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7" name="Freeform: Shape 36">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Freeform: Shape 37">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240BE4-2B17-FAD8-0FC9-7E0AE7CE594C}"/>
              </a:ext>
            </a:extLst>
          </p:cNvPr>
          <p:cNvSpPr>
            <a:spLocks noGrp="1"/>
          </p:cNvSpPr>
          <p:nvPr>
            <p:ph type="title"/>
          </p:nvPr>
        </p:nvSpPr>
        <p:spPr>
          <a:xfrm>
            <a:off x="371094" y="1161288"/>
            <a:ext cx="3438144" cy="1239012"/>
          </a:xfrm>
        </p:spPr>
        <p:txBody>
          <a:bodyPr anchor="ctr">
            <a:normAutofit/>
          </a:bodyPr>
          <a:lstStyle/>
          <a:p>
            <a:r>
              <a:rPr lang="en-US" sz="2800" b="1"/>
              <a:t>Key Feature Importance</a:t>
            </a:r>
          </a:p>
        </p:txBody>
      </p:sp>
      <p:sp>
        <p:nvSpPr>
          <p:cNvPr id="39" name="Rectangle 38">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5" name="Rectangle 3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C05027F0-6A08-F1DD-A207-65BC75D2FB92}"/>
              </a:ext>
            </a:extLst>
          </p:cNvPr>
          <p:cNvSpPr>
            <a:spLocks noGrp="1"/>
          </p:cNvSpPr>
          <p:nvPr>
            <p:ph idx="1"/>
          </p:nvPr>
        </p:nvSpPr>
        <p:spPr>
          <a:xfrm>
            <a:off x="371094" y="2718054"/>
            <a:ext cx="3438906" cy="3207258"/>
          </a:xfrm>
        </p:spPr>
        <p:txBody>
          <a:bodyPr anchor="t">
            <a:normAutofit/>
          </a:bodyPr>
          <a:lstStyle/>
          <a:p>
            <a:r>
              <a:rPr lang="en-US" sz="1600"/>
              <a:t>Primary Predictor: Pack Years (Cumulative smoking history) outweighs all other factors.</a:t>
            </a:r>
          </a:p>
          <a:p>
            <a:r>
              <a:rPr lang="en-US" sz="1600"/>
              <a:t>Secondary Clinical Factors: Abnormal X-ray results and CRP (inflammation) levels.</a:t>
            </a:r>
          </a:p>
          <a:p>
            <a:r>
              <a:rPr lang="en-US" sz="1600"/>
              <a:t>Environmental Impact: Air Pollution Index identified as a top-five risk contributor.</a:t>
            </a:r>
          </a:p>
          <a:p>
            <a:r>
              <a:rPr lang="en-US" sz="1600"/>
              <a:t>Biological Factors: Age and COPD status remain consistent indicators.</a:t>
            </a:r>
          </a:p>
        </p:txBody>
      </p:sp>
      <p:pic>
        <p:nvPicPr>
          <p:cNvPr id="8" name="Picture 7">
            <a:extLst>
              <a:ext uri="{FF2B5EF4-FFF2-40B4-BE49-F238E27FC236}">
                <a16:creationId xmlns:a16="http://schemas.microsoft.com/office/drawing/2014/main" id="{B6D50286-0698-F22A-2892-F265AE3A1A95}"/>
              </a:ext>
            </a:extLst>
          </p:cNvPr>
          <p:cNvPicPr>
            <a:picLocks noChangeAspect="1"/>
          </p:cNvPicPr>
          <p:nvPr/>
        </p:nvPicPr>
        <p:blipFill>
          <a:blip r:embed="rId2"/>
          <a:stretch>
            <a:fillRect/>
          </a:stretch>
        </p:blipFill>
        <p:spPr>
          <a:xfrm>
            <a:off x="4901184" y="1541130"/>
            <a:ext cx="6922008" cy="3876324"/>
          </a:xfrm>
          <a:prstGeom prst="rect">
            <a:avLst/>
          </a:prstGeom>
        </p:spPr>
      </p:pic>
    </p:spTree>
    <p:extLst>
      <p:ext uri="{BB962C8B-B14F-4D97-AF65-F5344CB8AC3E}">
        <p14:creationId xmlns:p14="http://schemas.microsoft.com/office/powerpoint/2010/main" val="253819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4D3531-FA81-E539-EBB8-6B8A2E1F1C1D}"/>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rPr>
              <a:t>Healthcare &amp; Strategic Conclusion</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E8DF2955-F887-90CB-3BD4-865FB44CF686}"/>
              </a:ext>
            </a:extLst>
          </p:cNvPr>
          <p:cNvGraphicFramePr>
            <a:graphicFrameLocks noGrp="1"/>
          </p:cNvGraphicFramePr>
          <p:nvPr>
            <p:ph idx="1"/>
            <p:extLst>
              <p:ext uri="{D42A27DB-BD31-4B8C-83A1-F6EECF244321}">
                <p14:modId xmlns:p14="http://schemas.microsoft.com/office/powerpoint/2010/main" val="66816474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1810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TotalTime>
  <Words>923</Words>
  <Application>Microsoft Office PowerPoint</Application>
  <PresentationFormat>Widescreen</PresentationFormat>
  <Paragraphs>172</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Predictive Analytics for Lung Cancer Risk Assessment</vt:lpstr>
      <vt:lpstr>Data Preparation and Methodology</vt:lpstr>
      <vt:lpstr>Exploratory Data Analysis (Numerical</vt:lpstr>
      <vt:lpstr>Exploratory Data Analysis (Categorical)</vt:lpstr>
      <vt:lpstr>Model Selection and Benchmarking</vt:lpstr>
      <vt:lpstr>Optimization via Random Search</vt:lpstr>
      <vt:lpstr>Optuna Study </vt:lpstr>
      <vt:lpstr>Final Model Performance</vt:lpstr>
      <vt:lpstr>Key Feature Importance</vt:lpstr>
      <vt:lpstr>Healthcare &amp; Strategic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Moaqir Ahmad Mian</dc:creator>
  <cp:lastModifiedBy>Moaqir Ahmad Mian</cp:lastModifiedBy>
  <cp:revision>69</cp:revision>
  <dcterms:created xsi:type="dcterms:W3CDTF">2026-01-15T14:24:53Z</dcterms:created>
  <dcterms:modified xsi:type="dcterms:W3CDTF">2026-01-15T15:04:19Z</dcterms:modified>
</cp:coreProperties>
</file>